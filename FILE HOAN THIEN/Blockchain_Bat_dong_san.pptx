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Giới thiệu đề tài và phạm vi bài thuyết trình. Nhóm đề xuất dùng Blockchain để hỗ trợ quản lý quyền sở hữu và giao dịch bất động sản.</a:t>
            </a:r>
          </a:p>
          <a:p>
            <a:r>
              <a:t>Nguồn: Báo cáo của Nhóm B, “Ứng dụng Blockchain trong quản lý quyền sở hữu và giao dịch bất động sản”, Chương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vấn đề này là phân tích nghiệp vụ của nhóm. Không trình bày như số liệu khảo sát hay kết quả đo lường.</a:t>
            </a:r>
          </a:p>
          <a:p>
            <a:r>
              <a:t>Nguồn: Báo cáo của Nhóm B, “Ứng dụng Blockchain trong quản lý quyền sở hữu và giao dịch bất động sản”, Chương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Nhấn mạnh Blockchain giữ các bản ghi cần kiểm chứng. Cơ quan có thẩm quyền vẫn xác minh đầu vào. Smart Contract chỉ xử lý các điều kiện đã lập trình.</a:t>
            </a:r>
          </a:p>
          <a:p>
            <a:r>
              <a:t>Nguồn: Báo cáo của Nhóm B, “Ứng dụng Blockchain trong quản lý quyền sở hữu và giao dịch bất động sản”, Chương 1 và Chương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bán và người mua tương tác với hệ thống. Vai trò cơ quan quản lý, công chứng và ngân hàng thuộc mô hình nghiệp vụ đề xuất. Chưa khẳng định các tích hợp này đã hoàn thiện.</a:t>
            </a:r>
          </a:p>
          <a:p>
            <a:r>
              <a:t>Nguồn: Báo cáo của Nhóm B, “Ứng dụng Blockchain trong quản lý quyền sở hữu và giao dịch bất động sản”, Chương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Trình bày lần lượt: đăng ký, xác minh, ghi nhận, tra cứu, giao dịch, cập nhật. Hình minh họa từ báo cáo mô tả mô hình đề xuất.</a:t>
            </a:r>
          </a:p>
          <a:p>
            <a:r>
              <a:t>Nguồn: Báo cáo của Nhóm B, “Ứng dụng Blockchain trong quản lý quyền sở hữu và giao dịch bất động sản”, Chương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Web hoặc Mobile tiếp nhận yêu cầu, Backend kết nối dữ liệu ngoài chuỗi và Smart Contract. Đây là kiến trúc đề xuất, chưa phải hệ thống tích hợp hoàn chỉnh.</a:t>
            </a:r>
          </a:p>
          <a:p>
            <a:r>
              <a:t>Nguồn: Báo cáo của Nhóm B, “Ứng dụng Blockchain trong quản lý quyền sở hữu và giao dịch bất động sản”, Chương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On-chain là dữ liệu ghi trên Blockchain. Off-chain là dữ liệu lưu ngoài Blockchain. Hash hỗ trợ phát hiện tài liệu thay đổi, không tự chứng minh tính xác thực của nội dung hồ sơ.</a:t>
            </a:r>
          </a:p>
          <a:p>
            <a:r>
              <a:t>Nguồn: Báo cáo của Nhóm B, “Ứng dụng Blockchain trong quản lý quyền sở hữu và giao dịch bất động sản”, Chương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Năm điều kiện kiểm tra trực tiếp trong phần mua của báo cáo. isConfirmed thuộc bước xác nhận trước niêm yết, không gộp thành điều kiện thứ sáu của hàm mua. Nếu kiểm tra thất bại, giao dịch revert.</a:t>
            </a:r>
          </a:p>
          <a:p>
            <a:r>
              <a:t>Nguồn: Báo cáo của Nhóm B, “Ứng dụng Blockchain trong quản lý quyền sở hữu và giao dịch bất động sản”, Chương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Ví dụ giả định để diễn giải quy trình, không phải bằng chứng đã chạy kiểm thử. A và B đại diện cho địa chỉ ví. Dùng 1 ETH trong môi trường thử nghiệm, không phải định giá bất động sản thực.</a:t>
            </a:r>
          </a:p>
          <a:p>
            <a:r>
              <a:t>Nguồn: Báo cáo của Nhóm B, “Ứng dụng Blockchain trong quản lý quyền sở hữu và giao dịch bất động sản”, Chương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Theo báo cáo, nhóm đã tích hợp các chức năng vào RealEstate.sol. Chưa có đủ bằng chứng kiểm thử end-to-end. Không khẳng định prototype sẵn sàng dùng cho giao dịch thực tế.</a:t>
            </a:r>
          </a:p>
          <a:p>
            <a:r>
              <a:t>Nguồn: Báo cáo của Nhóm B, “Ứng dụng Blockchain trong quản lý quyền sở hữu và giao dịch bất động sản”, Chương 4 và Chương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Diễn giải lợi ích kỳ vọng của mô hình. Blockchain không tự xác thực giấy tờ ngoài đời thực. Việc cập nhật owner trong contract không tự hoàn tất thủ tục pháp lý. Đây là giới hạn được nêu trong báo cáo.</a:t>
            </a:r>
          </a:p>
          <a:p>
            <a:r>
              <a:t>Nguồn: Báo cáo của Nhóm B, “Ứng dụng Blockchain trong quản lý quyền sở hữu và giao dịch bất động sản”, Chương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thúc bằng lộ trình: hoàn thiện prototype, kiểm thử, phát triển giao diện và từng bước nghiên cứu tích hợp. Mạng có cấp quyền là định hướng nghiên cứu, không mô tả là phần đã triển khai.</a:t>
            </a:r>
          </a:p>
          <a:p>
            <a:r>
              <a:t>Nguồn: Báo cáo của Nhóm B, “Ứng dụng Blockchain trong quản lý quyền sở hữu và giao dịch bất động sản”, Chương 5 và Chương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4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17F414-4240-445D-BEC6-B5EA590BBED7}"/>
              </a:ext>
            </a:extLst>
          </p:cNvPr>
          <p:cNvSpPr>
            <a:spLocks noGrp="1"/>
          </p:cNvSpPr>
          <p:nvPr/>
        </p:nvSpPr>
        <p:spPr>
          <a:xfrm>
            <a:off x="609600" y="495300"/>
            <a:ext cx="10953750" cy="838200"/>
          </a:xfrm>
          <a:prstGeom prst="rect">
            <a:avLst/>
          </a:prstGeom>
          <a:noFill/>
          <a:ln w="0">
            <a:noFill/>
          </a:ln>
        </p:spPr>
        <p:txBody>
          <a:bodyPr>
            <a:noAutofit/>
          </a:bodyPr>
          <a:lstStyle/>
          <a:p>
            <a:pPr>
              <a:defRPr sz="1725" b="1">
                <a:solidFill>
                  <a:srgbClr val="FFFFFF"/>
                </a:solidFill>
                <a:latin typeface="Arial"/>
                <a:ea typeface="Arial"/>
                <a:cs typeface="Arial"/>
              </a:defRPr>
            </a:pPr>
            <a:r>
              <a:rPr sz="1725" b="1">
                <a:solidFill>
                  <a:srgbClr val="FFFFFF"/>
                </a:solidFill>
                <a:latin typeface="Arial"/>
                <a:ea typeface="Arial"/>
                <a:cs typeface="Arial"/>
              </a:rPr>
              <a:t>Blockchain trong bất động sản</a:t>
            </a:r>
          </a:p>
        </p:txBody>
      </p:sp>
      <p:sp>
        <p:nvSpPr>
          <p:cNvPr id="2" name="Rectangle 1">
            <a:extLst>
              <a:ext uri="{FF2B5EF4-FFF2-40B4-BE49-F238E27FC236}">
                <a16:creationId xmlns:a16="http://schemas.microsoft.com/office/drawing/2014/main" id="{C2F51A58-F881-4113-9113-7EE304B9D088}"/>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01</a:t>
            </a:r>
          </a:p>
        </p:txBody>
      </p:sp>
      <p:sp>
        <p:nvSpPr>
          <p:cNvPr id="3" name="Rectangle 2">
            <a:extLst>
              <a:ext uri="{FF2B5EF4-FFF2-40B4-BE49-F238E27FC236}">
                <a16:creationId xmlns:a16="http://schemas.microsoft.com/office/drawing/2014/main" id="{27749D30-AFC5-4114-A76C-B82E892AD4A3}"/>
              </a:ext>
            </a:extLst>
          </p:cNvPr>
          <p:cNvSpPr>
            <a:spLocks noGrp="1"/>
          </p:cNvSpPr>
          <p:nvPr/>
        </p:nvSpPr>
        <p:spPr>
          <a:xfrm>
            <a:off x="628650" y="2066925"/>
            <a:ext cx="10477500" cy="1905000"/>
          </a:xfrm>
          <a:prstGeom prst="rect">
            <a:avLst/>
          </a:prstGeom>
          <a:noFill/>
          <a:ln w="0">
            <a:noFill/>
          </a:ln>
        </p:spPr>
        <p:txBody>
          <a:bodyPr>
            <a:noAutofit/>
          </a:bodyPr>
          <a:lstStyle/>
          <a:p>
            <a:pPr>
              <a:defRPr sz="4650" b="1">
                <a:solidFill>
                  <a:srgbClr val="FFFFFF"/>
                </a:solidFill>
                <a:latin typeface="Arial"/>
                <a:ea typeface="Arial"/>
                <a:cs typeface="Arial"/>
              </a:defRPr>
            </a:pPr>
            <a:r>
              <a:rPr sz="4650" b="1" dirty="0" err="1">
                <a:solidFill>
                  <a:srgbClr val="FFFFFF"/>
                </a:solidFill>
                <a:latin typeface="Arial"/>
                <a:ea typeface="Arial"/>
                <a:cs typeface="Arial"/>
              </a:rPr>
              <a:t>Quản</a:t>
            </a:r>
            <a:r>
              <a:rPr sz="4650" b="1" dirty="0">
                <a:solidFill>
                  <a:srgbClr val="FFFFFF"/>
                </a:solidFill>
                <a:latin typeface="Arial"/>
                <a:ea typeface="Arial"/>
                <a:cs typeface="Arial"/>
              </a:rPr>
              <a:t> </a:t>
            </a:r>
            <a:r>
              <a:rPr sz="4650" b="1" dirty="0" err="1">
                <a:solidFill>
                  <a:srgbClr val="FFFFFF"/>
                </a:solidFill>
                <a:latin typeface="Arial"/>
                <a:ea typeface="Arial"/>
                <a:cs typeface="Arial"/>
              </a:rPr>
              <a:t>lý</a:t>
            </a:r>
            <a:r>
              <a:rPr sz="4650" b="1" dirty="0">
                <a:solidFill>
                  <a:srgbClr val="FFFFFF"/>
                </a:solidFill>
                <a:latin typeface="Arial"/>
                <a:ea typeface="Arial"/>
                <a:cs typeface="Arial"/>
              </a:rPr>
              <a:t> </a:t>
            </a:r>
            <a:r>
              <a:rPr sz="4650" b="1" dirty="0" err="1">
                <a:solidFill>
                  <a:srgbClr val="FFFFFF"/>
                </a:solidFill>
                <a:latin typeface="Arial"/>
                <a:ea typeface="Arial"/>
                <a:cs typeface="Arial"/>
              </a:rPr>
              <a:t>quyền</a:t>
            </a:r>
            <a:r>
              <a:rPr sz="4650" b="1" dirty="0">
                <a:solidFill>
                  <a:srgbClr val="FFFFFF"/>
                </a:solidFill>
                <a:latin typeface="Arial"/>
                <a:ea typeface="Arial"/>
                <a:cs typeface="Arial"/>
              </a:rPr>
              <a:t> </a:t>
            </a:r>
            <a:r>
              <a:rPr sz="4650" b="1" dirty="0" err="1">
                <a:solidFill>
                  <a:srgbClr val="FFFFFF"/>
                </a:solidFill>
                <a:latin typeface="Arial"/>
                <a:ea typeface="Arial"/>
                <a:cs typeface="Arial"/>
              </a:rPr>
              <a:t>sở</a:t>
            </a:r>
            <a:r>
              <a:rPr sz="4650" b="1" dirty="0">
                <a:solidFill>
                  <a:srgbClr val="FFFFFF"/>
                </a:solidFill>
                <a:latin typeface="Arial"/>
                <a:ea typeface="Arial"/>
                <a:cs typeface="Arial"/>
              </a:rPr>
              <a:t> </a:t>
            </a:r>
            <a:r>
              <a:rPr sz="4650" b="1" dirty="0" err="1">
                <a:solidFill>
                  <a:srgbClr val="FFFFFF"/>
                </a:solidFill>
                <a:latin typeface="Arial"/>
                <a:ea typeface="Arial"/>
                <a:cs typeface="Arial"/>
              </a:rPr>
              <a:t>hữu</a:t>
            </a:r>
            <a:endParaRPr sz="4650" b="1" dirty="0">
              <a:solidFill>
                <a:srgbClr val="FFFFFF"/>
              </a:solidFill>
              <a:latin typeface="Arial"/>
              <a:ea typeface="Arial"/>
              <a:cs typeface="Arial"/>
            </a:endParaRPr>
          </a:p>
          <a:p>
            <a:pPr>
              <a:defRPr sz="4650" b="1">
                <a:solidFill>
                  <a:srgbClr val="FFFFFF"/>
                </a:solidFill>
                <a:latin typeface="Arial"/>
                <a:ea typeface="Arial"/>
                <a:cs typeface="Arial"/>
              </a:defRPr>
            </a:pPr>
            <a:r>
              <a:rPr sz="4650" b="1" dirty="0" err="1">
                <a:solidFill>
                  <a:srgbClr val="FFFFFF"/>
                </a:solidFill>
                <a:latin typeface="Arial"/>
                <a:ea typeface="Arial"/>
                <a:cs typeface="Arial"/>
              </a:rPr>
              <a:t>và</a:t>
            </a:r>
            <a:r>
              <a:rPr sz="4650" b="1" dirty="0">
                <a:solidFill>
                  <a:srgbClr val="FFFFFF"/>
                </a:solidFill>
                <a:latin typeface="Arial"/>
                <a:ea typeface="Arial"/>
                <a:cs typeface="Arial"/>
              </a:rPr>
              <a:t> </a:t>
            </a:r>
            <a:r>
              <a:rPr sz="4650" b="1" dirty="0" err="1">
                <a:solidFill>
                  <a:srgbClr val="FFFFFF"/>
                </a:solidFill>
                <a:latin typeface="Arial"/>
                <a:ea typeface="Arial"/>
                <a:cs typeface="Arial"/>
              </a:rPr>
              <a:t>giao</a:t>
            </a:r>
            <a:r>
              <a:rPr sz="4650" b="1" dirty="0">
                <a:solidFill>
                  <a:srgbClr val="FFFFFF"/>
                </a:solidFill>
                <a:latin typeface="Arial"/>
                <a:ea typeface="Arial"/>
                <a:cs typeface="Arial"/>
              </a:rPr>
              <a:t> </a:t>
            </a:r>
            <a:r>
              <a:rPr sz="4650" b="1" dirty="0" err="1">
                <a:solidFill>
                  <a:srgbClr val="FFFFFF"/>
                </a:solidFill>
                <a:latin typeface="Arial"/>
                <a:ea typeface="Arial"/>
                <a:cs typeface="Arial"/>
              </a:rPr>
              <a:t>dịch</a:t>
            </a:r>
            <a:r>
              <a:rPr sz="4650" b="1" dirty="0">
                <a:solidFill>
                  <a:srgbClr val="FFFFFF"/>
                </a:solidFill>
                <a:latin typeface="Arial"/>
                <a:ea typeface="Arial"/>
                <a:cs typeface="Arial"/>
              </a:rPr>
              <a:t> </a:t>
            </a:r>
            <a:r>
              <a:rPr sz="4650" b="1" dirty="0" err="1">
                <a:solidFill>
                  <a:srgbClr val="FFFFFF"/>
                </a:solidFill>
                <a:latin typeface="Arial"/>
                <a:ea typeface="Arial"/>
                <a:cs typeface="Arial"/>
              </a:rPr>
              <a:t>bất</a:t>
            </a:r>
            <a:r>
              <a:rPr sz="4650" b="1" dirty="0">
                <a:solidFill>
                  <a:srgbClr val="FFFFFF"/>
                </a:solidFill>
                <a:latin typeface="Arial"/>
                <a:ea typeface="Arial"/>
                <a:cs typeface="Arial"/>
              </a:rPr>
              <a:t> </a:t>
            </a:r>
            <a:r>
              <a:rPr sz="4650" b="1" dirty="0" err="1">
                <a:solidFill>
                  <a:srgbClr val="FFFFFF"/>
                </a:solidFill>
                <a:latin typeface="Arial"/>
                <a:ea typeface="Arial"/>
                <a:cs typeface="Arial"/>
              </a:rPr>
              <a:t>động</a:t>
            </a:r>
            <a:r>
              <a:rPr sz="4650" b="1" dirty="0">
                <a:solidFill>
                  <a:srgbClr val="FFFFFF"/>
                </a:solidFill>
                <a:latin typeface="Arial"/>
                <a:ea typeface="Arial"/>
                <a:cs typeface="Arial"/>
              </a:rPr>
              <a:t> </a:t>
            </a:r>
            <a:r>
              <a:rPr sz="4650" b="1" dirty="0" err="1">
                <a:solidFill>
                  <a:srgbClr val="FFFFFF"/>
                </a:solidFill>
                <a:latin typeface="Arial"/>
                <a:ea typeface="Arial"/>
                <a:cs typeface="Arial"/>
              </a:rPr>
              <a:t>sản</a:t>
            </a:r>
            <a:endParaRPr sz="4650" b="1" dirty="0">
              <a:solidFill>
                <a:srgbClr val="FFFFFF"/>
              </a:solidFill>
              <a:latin typeface="Arial"/>
              <a:ea typeface="Arial"/>
              <a:cs typeface="Arial"/>
            </a:endParaRPr>
          </a:p>
        </p:txBody>
      </p:sp>
    </p:spTree>
    <p:extLst>
      <p:ext uri="{BB962C8B-B14F-4D97-AF65-F5344CB8AC3E}">
        <p14:creationId xmlns:p14="http://schemas.microsoft.com/office/powerpoint/2010/main" val="980230683"/>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033D9D-10A6-44C3-8271-8B841263DEF5}"/>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Vấn đề trong quản lý bất động sản</a:t>
            </a:r>
          </a:p>
        </p:txBody>
      </p:sp>
      <p:sp>
        <p:nvSpPr>
          <p:cNvPr id="2" name="Rectangle 1">
            <a:extLst>
              <a:ext uri="{FF2B5EF4-FFF2-40B4-BE49-F238E27FC236}">
                <a16:creationId xmlns:a16="http://schemas.microsoft.com/office/drawing/2014/main" id="{5B78F933-7866-42DF-899B-639DDCA31E62}"/>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02</a:t>
            </a:r>
          </a:p>
        </p:txBody>
      </p:sp>
      <p:sp>
        <p:nvSpPr>
          <p:cNvPr id="3" name="Rectangle 2">
            <a:extLst>
              <a:ext uri="{FF2B5EF4-FFF2-40B4-BE49-F238E27FC236}">
                <a16:creationId xmlns:a16="http://schemas.microsoft.com/office/drawing/2014/main" id="{215CB28D-C8CF-444E-899F-4C0FA5639BC2}"/>
              </a:ext>
            </a:extLst>
          </p:cNvPr>
          <p:cNvSpPr>
            <a:spLocks noGrp="1"/>
          </p:cNvSpPr>
          <p:nvPr/>
        </p:nvSpPr>
        <p:spPr>
          <a:xfrm>
            <a:off x="647700" y="1895475"/>
            <a:ext cx="3048000" cy="857250"/>
          </a:xfrm>
          <a:prstGeom prst="rect">
            <a:avLst/>
          </a:prstGeom>
          <a:noFill/>
          <a:ln w="0">
            <a:noFill/>
          </a:ln>
        </p:spPr>
        <p:txBody>
          <a:bodyPr>
            <a:noAutofit/>
          </a:bodyPr>
          <a:lstStyle/>
          <a:p>
            <a:pPr>
              <a:defRPr sz="5100" b="1">
                <a:solidFill>
                  <a:srgbClr val="087F8C"/>
                </a:solidFill>
                <a:latin typeface="Arial"/>
                <a:ea typeface="Arial"/>
                <a:cs typeface="Arial"/>
              </a:defRPr>
            </a:pPr>
            <a:r>
              <a:rPr sz="5100" b="1">
                <a:solidFill>
                  <a:srgbClr val="087F8C"/>
                </a:solidFill>
                <a:latin typeface="Arial"/>
                <a:ea typeface="Arial"/>
                <a:cs typeface="Arial"/>
              </a:rPr>
              <a:t>01</a:t>
            </a:r>
          </a:p>
        </p:txBody>
      </p:sp>
      <p:sp>
        <p:nvSpPr>
          <p:cNvPr id="4" name="Rectangle 3">
            <a:extLst>
              <a:ext uri="{FF2B5EF4-FFF2-40B4-BE49-F238E27FC236}">
                <a16:creationId xmlns:a16="http://schemas.microsoft.com/office/drawing/2014/main" id="{0B89D6F9-8296-4585-B125-A756015CCD1E}"/>
              </a:ext>
            </a:extLst>
          </p:cNvPr>
          <p:cNvSpPr>
            <a:spLocks noGrp="1"/>
          </p:cNvSpPr>
          <p:nvPr/>
        </p:nvSpPr>
        <p:spPr>
          <a:xfrm>
            <a:off x="647700" y="3057525"/>
            <a:ext cx="3286125" cy="1000125"/>
          </a:xfrm>
          <a:prstGeom prst="rect">
            <a:avLst/>
          </a:prstGeom>
          <a:noFill/>
          <a:ln w="0">
            <a:noFill/>
          </a:ln>
        </p:spPr>
        <p:txBody>
          <a:bodyPr>
            <a:noAutofit/>
          </a:bodyPr>
          <a:lstStyle/>
          <a:p>
            <a:pPr>
              <a:defRPr sz="2400" b="1">
                <a:solidFill>
                  <a:srgbClr val="142E47"/>
                </a:solidFill>
                <a:latin typeface="Arial"/>
                <a:ea typeface="Arial"/>
                <a:cs typeface="Arial"/>
              </a:defRPr>
            </a:pPr>
            <a:r>
              <a:rPr sz="2400" b="1">
                <a:solidFill>
                  <a:srgbClr val="142E47"/>
                </a:solidFill>
                <a:latin typeface="Arial"/>
                <a:ea typeface="Arial"/>
                <a:cs typeface="Arial"/>
              </a:rPr>
              <a:t>Thông tin</a:t>
            </a:r>
          </a:p>
          <a:p>
            <a:pPr>
              <a:defRPr sz="2400" b="1">
                <a:solidFill>
                  <a:srgbClr val="142E47"/>
                </a:solidFill>
                <a:latin typeface="Arial"/>
                <a:ea typeface="Arial"/>
                <a:cs typeface="Arial"/>
              </a:defRPr>
            </a:pPr>
            <a:r>
              <a:rPr sz="2400" b="1">
                <a:solidFill>
                  <a:srgbClr val="142E47"/>
                </a:solidFill>
                <a:latin typeface="Arial"/>
                <a:ea typeface="Arial"/>
                <a:cs typeface="Arial"/>
              </a:rPr>
              <a:t>nằm ở nhiều nơi</a:t>
            </a:r>
          </a:p>
        </p:txBody>
      </p:sp>
      <p:sp>
        <p:nvSpPr>
          <p:cNvPr id="5" name="Rectangle 4">
            <a:extLst>
              <a:ext uri="{FF2B5EF4-FFF2-40B4-BE49-F238E27FC236}">
                <a16:creationId xmlns:a16="http://schemas.microsoft.com/office/drawing/2014/main" id="{30731126-D41F-441D-9F92-2D9CED41610C}"/>
              </a:ext>
            </a:extLst>
          </p:cNvPr>
          <p:cNvSpPr>
            <a:spLocks noGrp="1"/>
          </p:cNvSpPr>
          <p:nvPr/>
        </p:nvSpPr>
        <p:spPr>
          <a:xfrm>
            <a:off x="647700" y="4552950"/>
            <a:ext cx="3286125" cy="1190625"/>
          </a:xfrm>
          <a:prstGeom prst="rect">
            <a:avLst/>
          </a:prstGeom>
          <a:noFill/>
          <a:ln w="0">
            <a:noFill/>
          </a:ln>
        </p:spPr>
        <p:txBody>
          <a:bodyPr>
            <a:noAutofit/>
          </a:bodyPr>
          <a:lstStyle/>
          <a:p>
            <a:pPr>
              <a:defRPr sz="1950" b="0">
                <a:solidFill>
                  <a:srgbClr val="50677A"/>
                </a:solidFill>
                <a:latin typeface="Arial"/>
                <a:ea typeface="Arial"/>
                <a:cs typeface="Arial"/>
              </a:defRPr>
            </a:pPr>
            <a:r>
              <a:rPr sz="1950" b="0">
                <a:solidFill>
                  <a:srgbClr val="50677A"/>
                </a:solidFill>
                <a:latin typeface="Arial"/>
                <a:ea typeface="Arial"/>
                <a:cs typeface="Arial"/>
              </a:rPr>
              <a:t>Các bên mất thời gian</a:t>
            </a:r>
          </a:p>
          <a:p>
            <a:pPr>
              <a:defRPr sz="1950" b="0">
                <a:solidFill>
                  <a:srgbClr val="50677A"/>
                </a:solidFill>
                <a:latin typeface="Arial"/>
                <a:ea typeface="Arial"/>
                <a:cs typeface="Arial"/>
              </a:defRPr>
            </a:pPr>
            <a:r>
              <a:rPr sz="1950" b="0">
                <a:solidFill>
                  <a:srgbClr val="50677A"/>
                </a:solidFill>
                <a:latin typeface="Arial"/>
                <a:ea typeface="Arial"/>
                <a:cs typeface="Arial"/>
              </a:rPr>
              <a:t>đối chiếu hồ sơ và</a:t>
            </a:r>
          </a:p>
          <a:p>
            <a:pPr>
              <a:defRPr sz="1950" b="0">
                <a:solidFill>
                  <a:srgbClr val="50677A"/>
                </a:solidFill>
                <a:latin typeface="Arial"/>
                <a:ea typeface="Arial"/>
                <a:cs typeface="Arial"/>
              </a:defRPr>
            </a:pPr>
            <a:r>
              <a:rPr sz="1950" b="0">
                <a:solidFill>
                  <a:srgbClr val="50677A"/>
                </a:solidFill>
                <a:latin typeface="Arial"/>
                <a:ea typeface="Arial"/>
                <a:cs typeface="Arial"/>
              </a:rPr>
              <a:t>trạng thái tài sản.</a:t>
            </a:r>
          </a:p>
        </p:txBody>
      </p:sp>
      <p:sp>
        <p:nvSpPr>
          <p:cNvPr id="6" name="Rectangle 5">
            <a:extLst>
              <a:ext uri="{FF2B5EF4-FFF2-40B4-BE49-F238E27FC236}">
                <a16:creationId xmlns:a16="http://schemas.microsoft.com/office/drawing/2014/main" id="{A1B0840E-5125-40E7-849C-D864273B918A}"/>
              </a:ext>
            </a:extLst>
          </p:cNvPr>
          <p:cNvSpPr>
            <a:spLocks noGrp="1"/>
          </p:cNvSpPr>
          <p:nvPr/>
        </p:nvSpPr>
        <p:spPr>
          <a:xfrm>
            <a:off x="4505325" y="1895475"/>
            <a:ext cx="3048000" cy="857250"/>
          </a:xfrm>
          <a:prstGeom prst="rect">
            <a:avLst/>
          </a:prstGeom>
          <a:noFill/>
          <a:ln w="0">
            <a:noFill/>
          </a:ln>
        </p:spPr>
        <p:txBody>
          <a:bodyPr>
            <a:noAutofit/>
          </a:bodyPr>
          <a:lstStyle/>
          <a:p>
            <a:pPr>
              <a:defRPr sz="5100" b="1">
                <a:solidFill>
                  <a:srgbClr val="087F8C"/>
                </a:solidFill>
                <a:latin typeface="Arial"/>
                <a:ea typeface="Arial"/>
                <a:cs typeface="Arial"/>
              </a:defRPr>
            </a:pPr>
            <a:r>
              <a:rPr sz="5100" b="1">
                <a:solidFill>
                  <a:srgbClr val="087F8C"/>
                </a:solidFill>
                <a:latin typeface="Arial"/>
                <a:ea typeface="Arial"/>
                <a:cs typeface="Arial"/>
              </a:rPr>
              <a:t>02</a:t>
            </a:r>
          </a:p>
        </p:txBody>
      </p:sp>
      <p:sp>
        <p:nvSpPr>
          <p:cNvPr id="7" name="Rectangle 6">
            <a:extLst>
              <a:ext uri="{FF2B5EF4-FFF2-40B4-BE49-F238E27FC236}">
                <a16:creationId xmlns:a16="http://schemas.microsoft.com/office/drawing/2014/main" id="{7CE76068-1C5D-4F60-8198-48530CD2B4B6}"/>
              </a:ext>
            </a:extLst>
          </p:cNvPr>
          <p:cNvSpPr>
            <a:spLocks noGrp="1"/>
          </p:cNvSpPr>
          <p:nvPr/>
        </p:nvSpPr>
        <p:spPr>
          <a:xfrm>
            <a:off x="4505325" y="3057525"/>
            <a:ext cx="3286125" cy="1000125"/>
          </a:xfrm>
          <a:prstGeom prst="rect">
            <a:avLst/>
          </a:prstGeom>
          <a:noFill/>
          <a:ln w="0">
            <a:noFill/>
          </a:ln>
        </p:spPr>
        <p:txBody>
          <a:bodyPr>
            <a:noAutofit/>
          </a:bodyPr>
          <a:lstStyle/>
          <a:p>
            <a:pPr>
              <a:defRPr sz="2400" b="1">
                <a:solidFill>
                  <a:srgbClr val="142E47"/>
                </a:solidFill>
                <a:latin typeface="Arial"/>
                <a:ea typeface="Arial"/>
                <a:cs typeface="Arial"/>
              </a:defRPr>
            </a:pPr>
            <a:r>
              <a:rPr sz="2400" b="1">
                <a:solidFill>
                  <a:srgbClr val="142E47"/>
                </a:solidFill>
                <a:latin typeface="Arial"/>
                <a:ea typeface="Arial"/>
                <a:cs typeface="Arial"/>
              </a:rPr>
              <a:t>Khó theo dõi</a:t>
            </a:r>
          </a:p>
          <a:p>
            <a:pPr>
              <a:defRPr sz="2400" b="1">
                <a:solidFill>
                  <a:srgbClr val="142E47"/>
                </a:solidFill>
                <a:latin typeface="Arial"/>
                <a:ea typeface="Arial"/>
                <a:cs typeface="Arial"/>
              </a:defRPr>
            </a:pPr>
            <a:r>
              <a:rPr sz="2400" b="1">
                <a:solidFill>
                  <a:srgbClr val="142E47"/>
                </a:solidFill>
                <a:latin typeface="Arial"/>
                <a:ea typeface="Arial"/>
                <a:cs typeface="Arial"/>
              </a:rPr>
              <a:t>lịch sử sở hữu</a:t>
            </a:r>
          </a:p>
        </p:txBody>
      </p:sp>
      <p:sp>
        <p:nvSpPr>
          <p:cNvPr id="8" name="Rectangle 7">
            <a:extLst>
              <a:ext uri="{FF2B5EF4-FFF2-40B4-BE49-F238E27FC236}">
                <a16:creationId xmlns:a16="http://schemas.microsoft.com/office/drawing/2014/main" id="{1E116AF9-A98D-4D02-A574-D0B7DA11565E}"/>
              </a:ext>
            </a:extLst>
          </p:cNvPr>
          <p:cNvSpPr>
            <a:spLocks noGrp="1"/>
          </p:cNvSpPr>
          <p:nvPr/>
        </p:nvSpPr>
        <p:spPr>
          <a:xfrm>
            <a:off x="4505325" y="4552950"/>
            <a:ext cx="3286125" cy="1190625"/>
          </a:xfrm>
          <a:prstGeom prst="rect">
            <a:avLst/>
          </a:prstGeom>
          <a:noFill/>
          <a:ln w="0">
            <a:noFill/>
          </a:ln>
        </p:spPr>
        <p:txBody>
          <a:bodyPr>
            <a:noAutofit/>
          </a:bodyPr>
          <a:lstStyle/>
          <a:p>
            <a:pPr>
              <a:defRPr sz="1950" b="0">
                <a:solidFill>
                  <a:srgbClr val="50677A"/>
                </a:solidFill>
                <a:latin typeface="Arial"/>
                <a:ea typeface="Arial"/>
                <a:cs typeface="Arial"/>
              </a:defRPr>
            </a:pPr>
            <a:r>
              <a:rPr sz="1950" b="0">
                <a:solidFill>
                  <a:srgbClr val="50677A"/>
                </a:solidFill>
                <a:latin typeface="Arial"/>
                <a:ea typeface="Arial"/>
                <a:cs typeface="Arial"/>
              </a:rPr>
              <a:t>Cần biết ai sở hữu tài sản</a:t>
            </a:r>
          </a:p>
          <a:p>
            <a:pPr>
              <a:defRPr sz="1950" b="0">
                <a:solidFill>
                  <a:srgbClr val="50677A"/>
                </a:solidFill>
                <a:latin typeface="Arial"/>
                <a:ea typeface="Arial"/>
                <a:cs typeface="Arial"/>
              </a:defRPr>
            </a:pPr>
            <a:r>
              <a:rPr sz="1950" b="0">
                <a:solidFill>
                  <a:srgbClr val="50677A"/>
                </a:solidFill>
                <a:latin typeface="Arial"/>
                <a:ea typeface="Arial"/>
                <a:cs typeface="Arial"/>
              </a:rPr>
              <a:t>và quyền sở hữu</a:t>
            </a:r>
          </a:p>
          <a:p>
            <a:pPr>
              <a:defRPr sz="1950" b="0">
                <a:solidFill>
                  <a:srgbClr val="50677A"/>
                </a:solidFill>
                <a:latin typeface="Arial"/>
                <a:ea typeface="Arial"/>
                <a:cs typeface="Arial"/>
              </a:defRPr>
            </a:pPr>
            <a:r>
              <a:rPr sz="1950" b="0">
                <a:solidFill>
                  <a:srgbClr val="50677A"/>
                </a:solidFill>
                <a:latin typeface="Arial"/>
                <a:ea typeface="Arial"/>
                <a:cs typeface="Arial"/>
              </a:rPr>
              <a:t>thay đổi khi nào.</a:t>
            </a:r>
          </a:p>
        </p:txBody>
      </p:sp>
      <p:sp>
        <p:nvSpPr>
          <p:cNvPr id="9" name="Rectangle 8">
            <a:extLst>
              <a:ext uri="{FF2B5EF4-FFF2-40B4-BE49-F238E27FC236}">
                <a16:creationId xmlns:a16="http://schemas.microsoft.com/office/drawing/2014/main" id="{890F8FFF-FF4D-40E1-AECE-92E0CA37EE71}"/>
              </a:ext>
            </a:extLst>
          </p:cNvPr>
          <p:cNvSpPr>
            <a:spLocks noGrp="1"/>
          </p:cNvSpPr>
          <p:nvPr/>
        </p:nvSpPr>
        <p:spPr>
          <a:xfrm>
            <a:off x="8362950" y="1895475"/>
            <a:ext cx="3048000" cy="857250"/>
          </a:xfrm>
          <a:prstGeom prst="rect">
            <a:avLst/>
          </a:prstGeom>
          <a:noFill/>
          <a:ln w="0">
            <a:noFill/>
          </a:ln>
        </p:spPr>
        <p:txBody>
          <a:bodyPr>
            <a:noAutofit/>
          </a:bodyPr>
          <a:lstStyle/>
          <a:p>
            <a:pPr>
              <a:defRPr sz="5100" b="1">
                <a:solidFill>
                  <a:srgbClr val="087F8C"/>
                </a:solidFill>
                <a:latin typeface="Arial"/>
                <a:ea typeface="Arial"/>
                <a:cs typeface="Arial"/>
              </a:defRPr>
            </a:pPr>
            <a:r>
              <a:rPr sz="5100" b="1">
                <a:solidFill>
                  <a:srgbClr val="087F8C"/>
                </a:solidFill>
                <a:latin typeface="Arial"/>
                <a:ea typeface="Arial"/>
                <a:cs typeface="Arial"/>
              </a:rPr>
              <a:t>03</a:t>
            </a:r>
          </a:p>
        </p:txBody>
      </p:sp>
      <p:sp>
        <p:nvSpPr>
          <p:cNvPr id="10" name="Rectangle 9">
            <a:extLst>
              <a:ext uri="{FF2B5EF4-FFF2-40B4-BE49-F238E27FC236}">
                <a16:creationId xmlns:a16="http://schemas.microsoft.com/office/drawing/2014/main" id="{00245BE2-1A64-4FF6-B871-618844E537A5}"/>
              </a:ext>
            </a:extLst>
          </p:cNvPr>
          <p:cNvSpPr>
            <a:spLocks noGrp="1"/>
          </p:cNvSpPr>
          <p:nvPr/>
        </p:nvSpPr>
        <p:spPr>
          <a:xfrm>
            <a:off x="8362950" y="3057525"/>
            <a:ext cx="3286125" cy="1000125"/>
          </a:xfrm>
          <a:prstGeom prst="rect">
            <a:avLst/>
          </a:prstGeom>
          <a:noFill/>
          <a:ln w="0">
            <a:noFill/>
          </a:ln>
        </p:spPr>
        <p:txBody>
          <a:bodyPr>
            <a:noAutofit/>
          </a:bodyPr>
          <a:lstStyle/>
          <a:p>
            <a:pPr>
              <a:defRPr sz="2400" b="1">
                <a:solidFill>
                  <a:srgbClr val="142E47"/>
                </a:solidFill>
                <a:latin typeface="Arial"/>
                <a:ea typeface="Arial"/>
                <a:cs typeface="Arial"/>
              </a:defRPr>
            </a:pPr>
            <a:r>
              <a:rPr sz="2400" b="1">
                <a:solidFill>
                  <a:srgbClr val="142E47"/>
                </a:solidFill>
                <a:latin typeface="Arial"/>
                <a:ea typeface="Arial"/>
                <a:cs typeface="Arial"/>
              </a:rPr>
              <a:t>Kiểm tra</a:t>
            </a:r>
          </a:p>
          <a:p>
            <a:pPr>
              <a:defRPr sz="2400" b="1">
                <a:solidFill>
                  <a:srgbClr val="142E47"/>
                </a:solidFill>
                <a:latin typeface="Arial"/>
                <a:ea typeface="Arial"/>
                <a:cs typeface="Arial"/>
              </a:defRPr>
            </a:pPr>
            <a:r>
              <a:rPr sz="2400" b="1">
                <a:solidFill>
                  <a:srgbClr val="142E47"/>
                </a:solidFill>
                <a:latin typeface="Arial"/>
                <a:ea typeface="Arial"/>
                <a:cs typeface="Arial"/>
              </a:rPr>
              <a:t>nhiều lần</a:t>
            </a:r>
          </a:p>
        </p:txBody>
      </p:sp>
      <p:sp>
        <p:nvSpPr>
          <p:cNvPr id="11" name="Rectangle 10">
            <a:extLst>
              <a:ext uri="{FF2B5EF4-FFF2-40B4-BE49-F238E27FC236}">
                <a16:creationId xmlns:a16="http://schemas.microsoft.com/office/drawing/2014/main" id="{B4F2B681-7C2A-4C88-AAEF-D5C74883F4C2}"/>
              </a:ext>
            </a:extLst>
          </p:cNvPr>
          <p:cNvSpPr>
            <a:spLocks noGrp="1"/>
          </p:cNvSpPr>
          <p:nvPr/>
        </p:nvSpPr>
        <p:spPr>
          <a:xfrm>
            <a:off x="8362950" y="4552950"/>
            <a:ext cx="3286125" cy="1190625"/>
          </a:xfrm>
          <a:prstGeom prst="rect">
            <a:avLst/>
          </a:prstGeom>
          <a:noFill/>
          <a:ln w="0">
            <a:noFill/>
          </a:ln>
        </p:spPr>
        <p:txBody>
          <a:bodyPr>
            <a:noAutofit/>
          </a:bodyPr>
          <a:lstStyle/>
          <a:p>
            <a:pPr>
              <a:defRPr sz="1950" b="0">
                <a:solidFill>
                  <a:srgbClr val="50677A"/>
                </a:solidFill>
                <a:latin typeface="Arial"/>
                <a:ea typeface="Arial"/>
                <a:cs typeface="Arial"/>
              </a:defRPr>
            </a:pPr>
            <a:r>
              <a:rPr sz="1950" b="0">
                <a:solidFill>
                  <a:srgbClr val="50677A"/>
                </a:solidFill>
                <a:latin typeface="Arial"/>
                <a:ea typeface="Arial"/>
                <a:cs typeface="Arial"/>
              </a:rPr>
              <a:t>Trạng thái chậm cập nhật</a:t>
            </a:r>
          </a:p>
          <a:p>
            <a:pPr>
              <a:defRPr sz="1950" b="0">
                <a:solidFill>
                  <a:srgbClr val="50677A"/>
                </a:solidFill>
                <a:latin typeface="Arial"/>
                <a:ea typeface="Arial"/>
                <a:cs typeface="Arial"/>
              </a:defRPr>
            </a:pPr>
            <a:r>
              <a:rPr sz="1950" b="0">
                <a:solidFill>
                  <a:srgbClr val="50677A"/>
                </a:solidFill>
                <a:latin typeface="Arial"/>
                <a:ea typeface="Arial"/>
                <a:cs typeface="Arial"/>
              </a:rPr>
              <a:t>có thể gây nhầm lẫn</a:t>
            </a:r>
          </a:p>
          <a:p>
            <a:pPr>
              <a:defRPr sz="1950" b="0">
                <a:solidFill>
                  <a:srgbClr val="50677A"/>
                </a:solidFill>
                <a:latin typeface="Arial"/>
                <a:ea typeface="Arial"/>
                <a:cs typeface="Arial"/>
              </a:defRPr>
            </a:pPr>
            <a:r>
              <a:rPr sz="1950" b="0">
                <a:solidFill>
                  <a:srgbClr val="50677A"/>
                </a:solidFill>
                <a:latin typeface="Arial"/>
                <a:ea typeface="Arial"/>
                <a:cs typeface="Arial"/>
              </a:rPr>
              <a:t>khi giao dịch.</a:t>
            </a:r>
          </a:p>
        </p:txBody>
      </p:sp>
    </p:spTree>
    <p:extLst>
      <p:ext uri="{BB962C8B-B14F-4D97-AF65-F5344CB8AC3E}">
        <p14:creationId xmlns:p14="http://schemas.microsoft.com/office/powerpoint/2010/main" val="1058910459"/>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2B4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6B53CD-3793-4C8B-84DD-241049964D10}"/>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FFFFFF"/>
                </a:solidFill>
                <a:latin typeface="Arial"/>
                <a:ea typeface="Arial"/>
                <a:cs typeface="Arial"/>
              </a:defRPr>
            </a:pPr>
            <a:r>
              <a:rPr sz="3075" b="1">
                <a:solidFill>
                  <a:srgbClr val="FFFFFF"/>
                </a:solidFill>
                <a:latin typeface="Arial"/>
                <a:ea typeface="Arial"/>
                <a:cs typeface="Arial"/>
              </a:rPr>
              <a:t>Ý tưởng giải pháp của nhóm</a:t>
            </a:r>
          </a:p>
        </p:txBody>
      </p:sp>
      <p:sp>
        <p:nvSpPr>
          <p:cNvPr id="2" name="Rectangle 1">
            <a:extLst>
              <a:ext uri="{FF2B5EF4-FFF2-40B4-BE49-F238E27FC236}">
                <a16:creationId xmlns:a16="http://schemas.microsoft.com/office/drawing/2014/main" id="{EF4614A5-9C71-42AE-86F9-9DE305C505A0}"/>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03</a:t>
            </a:r>
          </a:p>
        </p:txBody>
      </p:sp>
      <p:sp>
        <p:nvSpPr>
          <p:cNvPr id="3" name="Rectangle 2">
            <a:extLst>
              <a:ext uri="{FF2B5EF4-FFF2-40B4-BE49-F238E27FC236}">
                <a16:creationId xmlns:a16="http://schemas.microsoft.com/office/drawing/2014/main" id="{7DA994E6-1587-4088-B582-9485A4E3E2E5}"/>
              </a:ext>
            </a:extLst>
          </p:cNvPr>
          <p:cNvSpPr>
            <a:spLocks noGrp="1"/>
          </p:cNvSpPr>
          <p:nvPr/>
        </p:nvSpPr>
        <p:spPr>
          <a:xfrm>
            <a:off x="628650" y="1704975"/>
            <a:ext cx="10668000" cy="1428750"/>
          </a:xfrm>
          <a:prstGeom prst="rect">
            <a:avLst/>
          </a:prstGeom>
          <a:noFill/>
          <a:ln w="0">
            <a:noFill/>
          </a:ln>
        </p:spPr>
        <p:txBody>
          <a:bodyPr>
            <a:noAutofit/>
          </a:bodyPr>
          <a:lstStyle/>
          <a:p>
            <a:pPr>
              <a:defRPr sz="4125" b="1">
                <a:solidFill>
                  <a:srgbClr val="66D6CB"/>
                </a:solidFill>
                <a:latin typeface="Arial"/>
                <a:ea typeface="Arial"/>
                <a:cs typeface="Arial"/>
              </a:defRPr>
            </a:pPr>
            <a:r>
              <a:rPr sz="4125" b="1">
                <a:solidFill>
                  <a:srgbClr val="66D6CB"/>
                </a:solidFill>
                <a:latin typeface="Arial"/>
                <a:ea typeface="Arial"/>
                <a:cs typeface="Arial"/>
              </a:rPr>
              <a:t>Một lịch sử giao dịch chung</a:t>
            </a:r>
          </a:p>
          <a:p>
            <a:pPr>
              <a:defRPr sz="4125" b="1">
                <a:solidFill>
                  <a:srgbClr val="66D6CB"/>
                </a:solidFill>
                <a:latin typeface="Arial"/>
                <a:ea typeface="Arial"/>
                <a:cs typeface="Arial"/>
              </a:defRPr>
            </a:pPr>
            <a:r>
              <a:rPr sz="4125" b="1">
                <a:solidFill>
                  <a:srgbClr val="66D6CB"/>
                </a:solidFill>
                <a:latin typeface="Arial"/>
                <a:ea typeface="Arial"/>
                <a:cs typeface="Arial"/>
              </a:rPr>
              <a:t>để các bên cùng đối chiếu</a:t>
            </a:r>
          </a:p>
        </p:txBody>
      </p:sp>
      <p:sp>
        <p:nvSpPr>
          <p:cNvPr id="4" name="Rectangle 3">
            <a:extLst>
              <a:ext uri="{FF2B5EF4-FFF2-40B4-BE49-F238E27FC236}">
                <a16:creationId xmlns:a16="http://schemas.microsoft.com/office/drawing/2014/main" id="{F3C39BA6-AD1F-4E84-AB47-A75E5B030967}"/>
              </a:ext>
            </a:extLst>
          </p:cNvPr>
          <p:cNvSpPr>
            <a:spLocks noGrp="1"/>
          </p:cNvSpPr>
          <p:nvPr/>
        </p:nvSpPr>
        <p:spPr>
          <a:xfrm>
            <a:off x="647700" y="3571875"/>
            <a:ext cx="10572750" cy="2428875"/>
          </a:xfrm>
          <a:prstGeom prst="rect">
            <a:avLst/>
          </a:prstGeom>
          <a:noFill/>
          <a:ln w="0">
            <a:noFill/>
          </a:ln>
        </p:spPr>
        <p:txBody>
          <a:bodyPr>
            <a:noAutofit/>
          </a:bodyPr>
          <a:lstStyle/>
          <a:p>
            <a:pPr>
              <a:defRPr sz="2025" b="0">
                <a:solidFill>
                  <a:srgbClr val="FFFFFF"/>
                </a:solidFill>
                <a:latin typeface="Arial"/>
                <a:ea typeface="Arial"/>
                <a:cs typeface="Arial"/>
              </a:defRPr>
            </a:pPr>
            <a:r>
              <a:rPr sz="2025" b="0">
                <a:solidFill>
                  <a:srgbClr val="FFFFFF"/>
                </a:solidFill>
                <a:latin typeface="Arial"/>
                <a:ea typeface="Arial"/>
                <a:cs typeface="Arial"/>
              </a:rPr>
              <a:t>Blockchain lưu dấu vết tài sản và các lần chuyển nhượng.</a:t>
            </a:r>
          </a:p>
          <a:p>
            <a:endParaRPr sz="2025" b="0">
              <a:solidFill>
                <a:srgbClr val="FFFFFF"/>
              </a:solidFill>
              <a:latin typeface="Arial"/>
              <a:ea typeface="Arial"/>
              <a:cs typeface="Arial"/>
            </a:endParaRPr>
          </a:p>
          <a:p>
            <a:pPr>
              <a:defRPr sz="2025" b="0">
                <a:solidFill>
                  <a:srgbClr val="FFFFFF"/>
                </a:solidFill>
                <a:latin typeface="Arial"/>
                <a:ea typeface="Arial"/>
                <a:cs typeface="Arial"/>
              </a:defRPr>
            </a:pPr>
            <a:r>
              <a:rPr sz="2025" b="0">
                <a:solidFill>
                  <a:srgbClr val="FFFFFF"/>
                </a:solidFill>
                <a:latin typeface="Arial"/>
                <a:ea typeface="Arial"/>
                <a:cs typeface="Arial"/>
              </a:rPr>
              <a:t>Smart Contract kiểm tra điều kiện trước khi cập nhật giao dịch.</a:t>
            </a:r>
          </a:p>
          <a:p>
            <a:endParaRPr sz="2025" b="0">
              <a:solidFill>
                <a:srgbClr val="FFFFFF"/>
              </a:solidFill>
              <a:latin typeface="Arial"/>
              <a:ea typeface="Arial"/>
              <a:cs typeface="Arial"/>
            </a:endParaRPr>
          </a:p>
          <a:p>
            <a:pPr>
              <a:defRPr sz="2025" b="0">
                <a:solidFill>
                  <a:srgbClr val="FFFFFF"/>
                </a:solidFill>
                <a:latin typeface="Arial"/>
                <a:ea typeface="Arial"/>
                <a:cs typeface="Arial"/>
              </a:defRPr>
            </a:pPr>
            <a:r>
              <a:rPr sz="2025" b="0">
                <a:solidFill>
                  <a:srgbClr val="FFFFFF"/>
                </a:solidFill>
                <a:latin typeface="Arial"/>
                <a:ea typeface="Arial"/>
                <a:cs typeface="Arial"/>
              </a:rPr>
              <a:t>Cơ quan quản lý xác minh hồ sơ trước khi cho phép giao dịch.</a:t>
            </a:r>
          </a:p>
        </p:txBody>
      </p:sp>
    </p:spTree>
    <p:extLst>
      <p:ext uri="{BB962C8B-B14F-4D97-AF65-F5344CB8AC3E}">
        <p14:creationId xmlns:p14="http://schemas.microsoft.com/office/powerpoint/2010/main" val="1916883949"/>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ACAA264-6D19-4066-81EC-0FB09AF08137}"/>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Các bên tham gia</a:t>
            </a:r>
          </a:p>
        </p:txBody>
      </p:sp>
      <p:sp>
        <p:nvSpPr>
          <p:cNvPr id="2" name="Rectangle 1">
            <a:extLst>
              <a:ext uri="{FF2B5EF4-FFF2-40B4-BE49-F238E27FC236}">
                <a16:creationId xmlns:a16="http://schemas.microsoft.com/office/drawing/2014/main" id="{D50A4E6D-60D6-4507-B117-D99ECABBA165}"/>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04</a:t>
            </a:r>
          </a:p>
        </p:txBody>
      </p:sp>
      <p:pic>
        <p:nvPicPr>
          <p:cNvPr id="12" name="Picture 11"/>
          <p:cNvPicPr>
            <a:picLocks noChangeAspect="1"/>
          </p:cNvPicPr>
          <p:nvPr/>
        </p:nvPicPr>
        <p:blipFill>
          <a:blip r:embed="rId3"/>
          <a:stretch/>
        </p:blipFill>
        <p:spPr>
          <a:xfrm>
            <a:off x="739613" y="1714500"/>
            <a:ext cx="5140649" cy="3857625"/>
          </a:xfrm>
          <a:prstGeom prst="rect">
            <a:avLst/>
          </a:prstGeom>
        </p:spPr>
      </p:pic>
      <p:sp>
        <p:nvSpPr>
          <p:cNvPr id="4" name="Rectangle 3">
            <a:extLst>
              <a:ext uri="{FF2B5EF4-FFF2-40B4-BE49-F238E27FC236}">
                <a16:creationId xmlns:a16="http://schemas.microsoft.com/office/drawing/2014/main" id="{49062F65-9BC9-4250-9220-8C126C4499DA}"/>
              </a:ext>
            </a:extLst>
          </p:cNvPr>
          <p:cNvSpPr>
            <a:spLocks noGrp="1"/>
          </p:cNvSpPr>
          <p:nvPr/>
        </p:nvSpPr>
        <p:spPr>
          <a:xfrm>
            <a:off x="6572250" y="1657350"/>
            <a:ext cx="4857750" cy="400050"/>
          </a:xfrm>
          <a:prstGeom prst="rect">
            <a:avLst/>
          </a:prstGeom>
          <a:noFill/>
          <a:ln w="0">
            <a:noFill/>
          </a:ln>
        </p:spPr>
        <p:txBody>
          <a:bodyPr>
            <a:noAutofit/>
          </a:bodyPr>
          <a:lstStyle/>
          <a:p>
            <a:pPr>
              <a:defRPr sz="2100" b="1">
                <a:solidFill>
                  <a:srgbClr val="087F8C"/>
                </a:solidFill>
                <a:latin typeface="Arial"/>
                <a:ea typeface="Arial"/>
                <a:cs typeface="Arial"/>
              </a:defRPr>
            </a:pPr>
            <a:r>
              <a:rPr sz="2100" b="1">
                <a:solidFill>
                  <a:srgbClr val="087F8C"/>
                </a:solidFill>
                <a:latin typeface="Arial"/>
                <a:ea typeface="Arial"/>
                <a:cs typeface="Arial"/>
              </a:rPr>
              <a:t>Người bán và người mua</a:t>
            </a:r>
          </a:p>
        </p:txBody>
      </p:sp>
      <p:sp>
        <p:nvSpPr>
          <p:cNvPr id="5" name="Rectangle 4">
            <a:extLst>
              <a:ext uri="{FF2B5EF4-FFF2-40B4-BE49-F238E27FC236}">
                <a16:creationId xmlns:a16="http://schemas.microsoft.com/office/drawing/2014/main" id="{BA8EBB00-5FD4-462B-831A-9CECCF01D058}"/>
              </a:ext>
            </a:extLst>
          </p:cNvPr>
          <p:cNvSpPr>
            <a:spLocks noGrp="1"/>
          </p:cNvSpPr>
          <p:nvPr/>
        </p:nvSpPr>
        <p:spPr>
          <a:xfrm>
            <a:off x="6572250" y="2143125"/>
            <a:ext cx="4857750" cy="857250"/>
          </a:xfrm>
          <a:prstGeom prst="rect">
            <a:avLst/>
          </a:prstGeom>
          <a:noFill/>
          <a:ln w="0">
            <a:noFill/>
          </a:ln>
        </p:spPr>
        <p:txBody>
          <a:bodyPr>
            <a:noAutofit/>
          </a:bodyPr>
          <a:lstStyle/>
          <a:p>
            <a:pPr>
              <a:defRPr sz="1950" b="0">
                <a:solidFill>
                  <a:srgbClr val="142E47"/>
                </a:solidFill>
                <a:latin typeface="Arial"/>
                <a:ea typeface="Arial"/>
                <a:cs typeface="Arial"/>
              </a:defRPr>
            </a:pPr>
            <a:r>
              <a:rPr sz="1950" b="0">
                <a:solidFill>
                  <a:srgbClr val="142E47"/>
                </a:solidFill>
                <a:latin typeface="Arial"/>
                <a:ea typeface="Arial"/>
                <a:cs typeface="Arial"/>
              </a:rPr>
              <a:t>Đăng ký tài sản, tra cứu thông tin</a:t>
            </a:r>
          </a:p>
          <a:p>
            <a:pPr>
              <a:defRPr sz="1950" b="0">
                <a:solidFill>
                  <a:srgbClr val="142E47"/>
                </a:solidFill>
                <a:latin typeface="Arial"/>
                <a:ea typeface="Arial"/>
                <a:cs typeface="Arial"/>
              </a:defRPr>
            </a:pPr>
            <a:r>
              <a:rPr sz="1950" b="0">
                <a:solidFill>
                  <a:srgbClr val="142E47"/>
                </a:solidFill>
                <a:latin typeface="Arial"/>
                <a:ea typeface="Arial"/>
                <a:cs typeface="Arial"/>
              </a:rPr>
              <a:t>và gửi yêu cầu giao dịch.</a:t>
            </a:r>
          </a:p>
        </p:txBody>
      </p:sp>
      <p:sp>
        <p:nvSpPr>
          <p:cNvPr id="6" name="Rectangle 5">
            <a:extLst>
              <a:ext uri="{FF2B5EF4-FFF2-40B4-BE49-F238E27FC236}">
                <a16:creationId xmlns:a16="http://schemas.microsoft.com/office/drawing/2014/main" id="{03131FF5-77B4-4833-A8F2-677968FD4181}"/>
              </a:ext>
            </a:extLst>
          </p:cNvPr>
          <p:cNvSpPr>
            <a:spLocks noGrp="1"/>
          </p:cNvSpPr>
          <p:nvPr/>
        </p:nvSpPr>
        <p:spPr>
          <a:xfrm>
            <a:off x="6572250" y="3228975"/>
            <a:ext cx="4857750" cy="400050"/>
          </a:xfrm>
          <a:prstGeom prst="rect">
            <a:avLst/>
          </a:prstGeom>
          <a:noFill/>
          <a:ln w="0">
            <a:noFill/>
          </a:ln>
        </p:spPr>
        <p:txBody>
          <a:bodyPr>
            <a:noAutofit/>
          </a:bodyPr>
          <a:lstStyle/>
          <a:p>
            <a:pPr>
              <a:defRPr sz="2100" b="1">
                <a:solidFill>
                  <a:srgbClr val="087F8C"/>
                </a:solidFill>
                <a:latin typeface="Arial"/>
                <a:ea typeface="Arial"/>
                <a:cs typeface="Arial"/>
              </a:defRPr>
            </a:pPr>
            <a:r>
              <a:rPr sz="2100" b="1">
                <a:solidFill>
                  <a:srgbClr val="087F8C"/>
                </a:solidFill>
                <a:latin typeface="Arial"/>
                <a:ea typeface="Arial"/>
                <a:cs typeface="Arial"/>
              </a:rPr>
              <a:t>Cơ quan quản lý</a:t>
            </a:r>
          </a:p>
        </p:txBody>
      </p:sp>
      <p:sp>
        <p:nvSpPr>
          <p:cNvPr id="7" name="Rectangle 6">
            <a:extLst>
              <a:ext uri="{FF2B5EF4-FFF2-40B4-BE49-F238E27FC236}">
                <a16:creationId xmlns:a16="http://schemas.microsoft.com/office/drawing/2014/main" id="{16334EA0-DAFB-40C8-BDBC-DE92EE4AA0BB}"/>
              </a:ext>
            </a:extLst>
          </p:cNvPr>
          <p:cNvSpPr>
            <a:spLocks noGrp="1"/>
          </p:cNvSpPr>
          <p:nvPr/>
        </p:nvSpPr>
        <p:spPr>
          <a:xfrm>
            <a:off x="6572250" y="3695700"/>
            <a:ext cx="4857750" cy="762000"/>
          </a:xfrm>
          <a:prstGeom prst="rect">
            <a:avLst/>
          </a:prstGeom>
          <a:noFill/>
          <a:ln w="0">
            <a:noFill/>
          </a:ln>
        </p:spPr>
        <p:txBody>
          <a:bodyPr>
            <a:noAutofit/>
          </a:bodyPr>
          <a:lstStyle/>
          <a:p>
            <a:pPr>
              <a:defRPr sz="1950" b="0">
                <a:solidFill>
                  <a:srgbClr val="142E47"/>
                </a:solidFill>
                <a:latin typeface="Arial"/>
                <a:ea typeface="Arial"/>
                <a:cs typeface="Arial"/>
              </a:defRPr>
            </a:pPr>
            <a:r>
              <a:rPr sz="1950" b="0">
                <a:solidFill>
                  <a:srgbClr val="142E47"/>
                </a:solidFill>
                <a:latin typeface="Arial"/>
                <a:ea typeface="Arial"/>
                <a:cs typeface="Arial"/>
              </a:rPr>
              <a:t>Xác minh hồ sơ và phê duyệt</a:t>
            </a:r>
          </a:p>
          <a:p>
            <a:pPr>
              <a:defRPr sz="1950" b="0">
                <a:solidFill>
                  <a:srgbClr val="142E47"/>
                </a:solidFill>
                <a:latin typeface="Arial"/>
                <a:ea typeface="Arial"/>
                <a:cs typeface="Arial"/>
              </a:defRPr>
            </a:pPr>
            <a:r>
              <a:rPr sz="1950" b="0">
                <a:solidFill>
                  <a:srgbClr val="142E47"/>
                </a:solidFill>
                <a:latin typeface="Arial"/>
                <a:ea typeface="Arial"/>
                <a:cs typeface="Arial"/>
              </a:rPr>
              <a:t>trạng thái tài sản.</a:t>
            </a:r>
          </a:p>
        </p:txBody>
      </p:sp>
      <p:sp>
        <p:nvSpPr>
          <p:cNvPr id="8" name="Rectangle 7">
            <a:extLst>
              <a:ext uri="{FF2B5EF4-FFF2-40B4-BE49-F238E27FC236}">
                <a16:creationId xmlns:a16="http://schemas.microsoft.com/office/drawing/2014/main" id="{5CFB27F2-19B3-44F3-A9E9-DAAA1ADF4DB6}"/>
              </a:ext>
            </a:extLst>
          </p:cNvPr>
          <p:cNvSpPr>
            <a:spLocks noGrp="1"/>
          </p:cNvSpPr>
          <p:nvPr/>
        </p:nvSpPr>
        <p:spPr>
          <a:xfrm>
            <a:off x="6572250" y="4695825"/>
            <a:ext cx="4857750" cy="400050"/>
          </a:xfrm>
          <a:prstGeom prst="rect">
            <a:avLst/>
          </a:prstGeom>
          <a:noFill/>
          <a:ln w="0">
            <a:noFill/>
          </a:ln>
        </p:spPr>
        <p:txBody>
          <a:bodyPr>
            <a:noAutofit/>
          </a:bodyPr>
          <a:lstStyle/>
          <a:p>
            <a:pPr>
              <a:defRPr sz="2100" b="1">
                <a:solidFill>
                  <a:srgbClr val="087F8C"/>
                </a:solidFill>
                <a:latin typeface="Arial"/>
                <a:ea typeface="Arial"/>
                <a:cs typeface="Arial"/>
              </a:defRPr>
            </a:pPr>
            <a:r>
              <a:rPr sz="2100" b="1">
                <a:solidFill>
                  <a:srgbClr val="087F8C"/>
                </a:solidFill>
                <a:latin typeface="Arial"/>
                <a:ea typeface="Arial"/>
                <a:cs typeface="Arial"/>
              </a:rPr>
              <a:t>Công chứng và ngân hàng</a:t>
            </a:r>
          </a:p>
        </p:txBody>
      </p:sp>
      <p:sp>
        <p:nvSpPr>
          <p:cNvPr id="9" name="Rectangle 8">
            <a:extLst>
              <a:ext uri="{FF2B5EF4-FFF2-40B4-BE49-F238E27FC236}">
                <a16:creationId xmlns:a16="http://schemas.microsoft.com/office/drawing/2014/main" id="{5671CA9A-D455-47FE-8B26-613001DBF023}"/>
              </a:ext>
            </a:extLst>
          </p:cNvPr>
          <p:cNvSpPr>
            <a:spLocks noGrp="1"/>
          </p:cNvSpPr>
          <p:nvPr/>
        </p:nvSpPr>
        <p:spPr>
          <a:xfrm>
            <a:off x="6572250" y="5172075"/>
            <a:ext cx="4857750" cy="762000"/>
          </a:xfrm>
          <a:prstGeom prst="rect">
            <a:avLst/>
          </a:prstGeom>
          <a:noFill/>
          <a:ln w="0">
            <a:noFill/>
          </a:ln>
        </p:spPr>
        <p:txBody>
          <a:bodyPr>
            <a:noAutofit/>
          </a:bodyPr>
          <a:lstStyle/>
          <a:p>
            <a:pPr>
              <a:defRPr sz="1950" b="0">
                <a:solidFill>
                  <a:srgbClr val="142E47"/>
                </a:solidFill>
                <a:latin typeface="Arial"/>
                <a:ea typeface="Arial"/>
                <a:cs typeface="Arial"/>
              </a:defRPr>
            </a:pPr>
            <a:r>
              <a:rPr sz="1950" b="0">
                <a:solidFill>
                  <a:srgbClr val="142E47"/>
                </a:solidFill>
                <a:latin typeface="Arial"/>
                <a:ea typeface="Arial"/>
                <a:cs typeface="Arial"/>
              </a:rPr>
              <a:t>Hỗ trợ xác nhận hợp đồng,</a:t>
            </a:r>
          </a:p>
          <a:p>
            <a:pPr>
              <a:defRPr sz="1950" b="0">
                <a:solidFill>
                  <a:srgbClr val="142E47"/>
                </a:solidFill>
                <a:latin typeface="Arial"/>
                <a:ea typeface="Arial"/>
                <a:cs typeface="Arial"/>
              </a:defRPr>
            </a:pPr>
            <a:r>
              <a:rPr sz="1950" b="0">
                <a:solidFill>
                  <a:srgbClr val="142E47"/>
                </a:solidFill>
                <a:latin typeface="Arial"/>
                <a:ea typeface="Arial"/>
                <a:cs typeface="Arial"/>
              </a:rPr>
              <a:t>thanh toán và đối soát.</a:t>
            </a:r>
          </a:p>
        </p:txBody>
      </p:sp>
    </p:spTree>
    <p:extLst>
      <p:ext uri="{BB962C8B-B14F-4D97-AF65-F5344CB8AC3E}">
        <p14:creationId xmlns:p14="http://schemas.microsoft.com/office/powerpoint/2010/main" val="105031062"/>
      </p:ext>
    </p:extLst>
  </p:cSld>
  <p:clrMapOvr>
    <a:masterClrMapping/>
  </p:clrMapOvr>
  <p:transition spd="slow">
    <p:spli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FBE17F3-8E9D-4C9D-976E-5B376277F95F}"/>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Quy trình hoạt động gồm 6 bước</a:t>
            </a:r>
          </a:p>
        </p:txBody>
      </p:sp>
      <p:sp>
        <p:nvSpPr>
          <p:cNvPr id="2" name="Rectangle 1">
            <a:extLst>
              <a:ext uri="{FF2B5EF4-FFF2-40B4-BE49-F238E27FC236}">
                <a16:creationId xmlns:a16="http://schemas.microsoft.com/office/drawing/2014/main" id="{AE66335B-913B-4BCA-86D5-1BD0CDAA21AC}"/>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05</a:t>
            </a:r>
          </a:p>
        </p:txBody>
      </p:sp>
      <p:pic>
        <p:nvPicPr>
          <p:cNvPr id="7" name="Picture 6"/>
          <p:cNvPicPr>
            <a:picLocks noChangeAspect="1"/>
          </p:cNvPicPr>
          <p:nvPr/>
        </p:nvPicPr>
        <p:blipFill>
          <a:blip r:embed="rId3"/>
          <a:stretch/>
        </p:blipFill>
        <p:spPr>
          <a:xfrm>
            <a:off x="457200" y="1717923"/>
            <a:ext cx="11277600" cy="3755529"/>
          </a:xfrm>
          <a:prstGeom prst="rect">
            <a:avLst/>
          </a:prstGeom>
        </p:spPr>
      </p:pic>
    </p:spTree>
    <p:extLst>
      <p:ext uri="{BB962C8B-B14F-4D97-AF65-F5344CB8AC3E}">
        <p14:creationId xmlns:p14="http://schemas.microsoft.com/office/powerpoint/2010/main" val="1407927631"/>
      </p:ext>
    </p:extLst>
  </p:cSld>
  <p:clrMapOvr>
    <a:masterClrMapping/>
  </p:clrMapOvr>
  <p:transition spd="slow">
    <p:cover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0E0946-BA49-40EB-8666-390C31D751F9}"/>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Kiến trúc hệ thống đề xuất</a:t>
            </a:r>
          </a:p>
        </p:txBody>
      </p:sp>
      <p:sp>
        <p:nvSpPr>
          <p:cNvPr id="2" name="Rectangle 1">
            <a:extLst>
              <a:ext uri="{FF2B5EF4-FFF2-40B4-BE49-F238E27FC236}">
                <a16:creationId xmlns:a16="http://schemas.microsoft.com/office/drawing/2014/main" id="{5781CAE7-5678-4689-BDF5-FEA93DD4535D}"/>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06</a:t>
            </a:r>
          </a:p>
        </p:txBody>
      </p:sp>
      <p:pic>
        <p:nvPicPr>
          <p:cNvPr id="7" name="Picture 6"/>
          <p:cNvPicPr>
            <a:picLocks noChangeAspect="1"/>
          </p:cNvPicPr>
          <p:nvPr/>
        </p:nvPicPr>
        <p:blipFill rotWithShape="1">
          <a:blip r:embed="rId3"/>
          <a:srcRect t="9796"/>
          <a:stretch/>
        </p:blipFill>
        <p:spPr>
          <a:xfrm>
            <a:off x="874294" y="1066800"/>
            <a:ext cx="9946106" cy="5048250"/>
          </a:xfrm>
          <a:prstGeom prst="rect">
            <a:avLst/>
          </a:prstGeom>
        </p:spPr>
      </p:pic>
    </p:spTree>
    <p:extLst>
      <p:ext uri="{BB962C8B-B14F-4D97-AF65-F5344CB8AC3E}">
        <p14:creationId xmlns:p14="http://schemas.microsoft.com/office/powerpoint/2010/main" val="86379258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7AF908-2DA2-4CAB-A794-46EFBB90C286}"/>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Dữ liệu lưu ở đâu?</a:t>
            </a:r>
          </a:p>
        </p:txBody>
      </p:sp>
      <p:sp>
        <p:nvSpPr>
          <p:cNvPr id="2" name="Rectangle 1">
            <a:extLst>
              <a:ext uri="{FF2B5EF4-FFF2-40B4-BE49-F238E27FC236}">
                <a16:creationId xmlns:a16="http://schemas.microsoft.com/office/drawing/2014/main" id="{0DD6513B-CC23-4054-A2F7-946A0617AC66}"/>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07</a:t>
            </a:r>
          </a:p>
        </p:txBody>
      </p:sp>
      <p:sp>
        <p:nvSpPr>
          <p:cNvPr id="3" name="Rectangle 2">
            <a:extLst>
              <a:ext uri="{FF2B5EF4-FFF2-40B4-BE49-F238E27FC236}">
                <a16:creationId xmlns:a16="http://schemas.microsoft.com/office/drawing/2014/main" id="{472B1C1A-C10F-485A-8E85-5DC26F8AA549}"/>
              </a:ext>
            </a:extLst>
          </p:cNvPr>
          <p:cNvSpPr>
            <a:spLocks noGrp="1"/>
          </p:cNvSpPr>
          <p:nvPr/>
        </p:nvSpPr>
        <p:spPr>
          <a:xfrm>
            <a:off x="666750" y="1733550"/>
            <a:ext cx="4953000" cy="457200"/>
          </a:xfrm>
          <a:prstGeom prst="rect">
            <a:avLst/>
          </a:prstGeom>
          <a:noFill/>
          <a:ln w="0">
            <a:noFill/>
          </a:ln>
        </p:spPr>
        <p:txBody>
          <a:bodyPr>
            <a:noAutofit/>
          </a:bodyPr>
          <a:lstStyle/>
          <a:p>
            <a:pPr>
              <a:defRPr sz="2550" b="1">
                <a:solidFill>
                  <a:srgbClr val="087F8C"/>
                </a:solidFill>
                <a:latin typeface="Arial"/>
                <a:ea typeface="Arial"/>
                <a:cs typeface="Arial"/>
              </a:defRPr>
            </a:pPr>
            <a:r>
              <a:rPr sz="2550" b="1">
                <a:solidFill>
                  <a:srgbClr val="087F8C"/>
                </a:solidFill>
                <a:latin typeface="Arial"/>
                <a:ea typeface="Arial"/>
                <a:cs typeface="Arial"/>
              </a:rPr>
              <a:t>Trên Blockchain</a:t>
            </a:r>
          </a:p>
        </p:txBody>
      </p:sp>
      <p:sp>
        <p:nvSpPr>
          <p:cNvPr id="4" name="Rectangle 3">
            <a:extLst>
              <a:ext uri="{FF2B5EF4-FFF2-40B4-BE49-F238E27FC236}">
                <a16:creationId xmlns:a16="http://schemas.microsoft.com/office/drawing/2014/main" id="{F965BFC7-2C5F-4868-B534-E1265F9AE169}"/>
              </a:ext>
            </a:extLst>
          </p:cNvPr>
          <p:cNvSpPr>
            <a:spLocks noGrp="1"/>
          </p:cNvSpPr>
          <p:nvPr/>
        </p:nvSpPr>
        <p:spPr>
          <a:xfrm>
            <a:off x="666750" y="2447925"/>
            <a:ext cx="4857750" cy="3048000"/>
          </a:xfrm>
          <a:prstGeom prst="rect">
            <a:avLst/>
          </a:prstGeom>
          <a:noFill/>
          <a:ln w="0">
            <a:noFill/>
          </a:ln>
        </p:spPr>
        <p:txBody>
          <a:bodyPr>
            <a:noAutofit/>
          </a:bodyPr>
          <a:lstStyle/>
          <a:p>
            <a:pPr>
              <a:defRPr sz="2100" b="0">
                <a:solidFill>
                  <a:srgbClr val="142E47"/>
                </a:solidFill>
                <a:latin typeface="Arial"/>
                <a:ea typeface="Arial"/>
                <a:cs typeface="Arial"/>
              </a:defRPr>
            </a:pPr>
            <a:r>
              <a:rPr sz="2100" b="0">
                <a:solidFill>
                  <a:srgbClr val="142E47"/>
                </a:solidFill>
                <a:latin typeface="Arial"/>
                <a:ea typeface="Arial"/>
                <a:cs typeface="Arial"/>
              </a:rPr>
              <a:t>Mã tài sản và trạng thái</a:t>
            </a:r>
          </a:p>
          <a:p>
            <a:endParaRPr sz="2100" b="0">
              <a:solidFill>
                <a:srgbClr val="142E47"/>
              </a:solidFill>
              <a:latin typeface="Arial"/>
              <a:ea typeface="Arial"/>
              <a:cs typeface="Arial"/>
            </a:endParaRPr>
          </a:p>
          <a:p>
            <a:pPr>
              <a:defRPr sz="2100" b="0">
                <a:solidFill>
                  <a:srgbClr val="142E47"/>
                </a:solidFill>
                <a:latin typeface="Arial"/>
                <a:ea typeface="Arial"/>
                <a:cs typeface="Arial"/>
              </a:defRPr>
            </a:pPr>
            <a:r>
              <a:rPr sz="2100" b="0">
                <a:solidFill>
                  <a:srgbClr val="142E47"/>
                </a:solidFill>
                <a:latin typeface="Arial"/>
                <a:ea typeface="Arial"/>
                <a:cs typeface="Arial"/>
              </a:rPr>
              <a:t>Địa chỉ ví chủ sở hữu</a:t>
            </a:r>
          </a:p>
          <a:p>
            <a:endParaRPr sz="2100" b="0">
              <a:solidFill>
                <a:srgbClr val="142E47"/>
              </a:solidFill>
              <a:latin typeface="Arial"/>
              <a:ea typeface="Arial"/>
              <a:cs typeface="Arial"/>
            </a:endParaRPr>
          </a:p>
          <a:p>
            <a:pPr>
              <a:defRPr sz="2100" b="0">
                <a:solidFill>
                  <a:srgbClr val="142E47"/>
                </a:solidFill>
                <a:latin typeface="Arial"/>
                <a:ea typeface="Arial"/>
                <a:cs typeface="Arial"/>
              </a:defRPr>
            </a:pPr>
            <a:r>
              <a:rPr sz="2100" b="0">
                <a:solidFill>
                  <a:srgbClr val="142E47"/>
                </a:solidFill>
                <a:latin typeface="Arial"/>
                <a:ea typeface="Arial"/>
                <a:cs typeface="Arial"/>
              </a:rPr>
              <a:t>Lịch sử giao dịch và thời điểm</a:t>
            </a:r>
          </a:p>
          <a:p>
            <a:endParaRPr sz="2100" b="0">
              <a:solidFill>
                <a:srgbClr val="142E47"/>
              </a:solidFill>
              <a:latin typeface="Arial"/>
              <a:ea typeface="Arial"/>
              <a:cs typeface="Arial"/>
            </a:endParaRPr>
          </a:p>
          <a:p>
            <a:pPr>
              <a:defRPr sz="2100" b="0">
                <a:solidFill>
                  <a:srgbClr val="142E47"/>
                </a:solidFill>
                <a:latin typeface="Arial"/>
                <a:ea typeface="Arial"/>
                <a:cs typeface="Arial"/>
              </a:defRPr>
            </a:pPr>
            <a:r>
              <a:rPr sz="2100" b="0">
                <a:solidFill>
                  <a:srgbClr val="142E47"/>
                </a:solidFill>
                <a:latin typeface="Arial"/>
                <a:ea typeface="Arial"/>
                <a:cs typeface="Arial"/>
              </a:rPr>
              <a:t>Hash tham chiếu hồ sơ</a:t>
            </a:r>
          </a:p>
        </p:txBody>
      </p:sp>
      <p:sp>
        <p:nvSpPr>
          <p:cNvPr id="5" name="Rectangle 4">
            <a:extLst>
              <a:ext uri="{FF2B5EF4-FFF2-40B4-BE49-F238E27FC236}">
                <a16:creationId xmlns:a16="http://schemas.microsoft.com/office/drawing/2014/main" id="{15517096-24AC-49AA-B5A3-7F900CD5C675}"/>
              </a:ext>
            </a:extLst>
          </p:cNvPr>
          <p:cNvSpPr>
            <a:spLocks noGrp="1"/>
          </p:cNvSpPr>
          <p:nvPr/>
        </p:nvSpPr>
        <p:spPr>
          <a:xfrm>
            <a:off x="6667500" y="1733550"/>
            <a:ext cx="4857750" cy="457200"/>
          </a:xfrm>
          <a:prstGeom prst="rect">
            <a:avLst/>
          </a:prstGeom>
          <a:noFill/>
          <a:ln w="0">
            <a:noFill/>
          </a:ln>
        </p:spPr>
        <p:txBody>
          <a:bodyPr>
            <a:noAutofit/>
          </a:bodyPr>
          <a:lstStyle/>
          <a:p>
            <a:pPr>
              <a:defRPr sz="2550" b="1">
                <a:solidFill>
                  <a:srgbClr val="087F8C"/>
                </a:solidFill>
                <a:latin typeface="Arial"/>
                <a:ea typeface="Arial"/>
                <a:cs typeface="Arial"/>
              </a:defRPr>
            </a:pPr>
            <a:r>
              <a:rPr sz="2550" b="1">
                <a:solidFill>
                  <a:srgbClr val="087F8C"/>
                </a:solidFill>
                <a:latin typeface="Arial"/>
                <a:ea typeface="Arial"/>
                <a:cs typeface="Arial"/>
              </a:rPr>
              <a:t>Ngoài Blockchain</a:t>
            </a:r>
          </a:p>
        </p:txBody>
      </p:sp>
      <p:sp>
        <p:nvSpPr>
          <p:cNvPr id="6" name="Rectangle 5">
            <a:extLst>
              <a:ext uri="{FF2B5EF4-FFF2-40B4-BE49-F238E27FC236}">
                <a16:creationId xmlns:a16="http://schemas.microsoft.com/office/drawing/2014/main" id="{947FA467-62FB-4F26-9851-90FFA16CBB8A}"/>
              </a:ext>
            </a:extLst>
          </p:cNvPr>
          <p:cNvSpPr>
            <a:spLocks noGrp="1"/>
          </p:cNvSpPr>
          <p:nvPr/>
        </p:nvSpPr>
        <p:spPr>
          <a:xfrm>
            <a:off x="6667500" y="2447925"/>
            <a:ext cx="4857750" cy="3048000"/>
          </a:xfrm>
          <a:prstGeom prst="rect">
            <a:avLst/>
          </a:prstGeom>
          <a:noFill/>
          <a:ln w="0">
            <a:noFill/>
          </a:ln>
        </p:spPr>
        <p:txBody>
          <a:bodyPr>
            <a:noAutofit/>
          </a:bodyPr>
          <a:lstStyle/>
          <a:p>
            <a:pPr>
              <a:defRPr sz="2100" b="0">
                <a:solidFill>
                  <a:srgbClr val="142E47"/>
                </a:solidFill>
                <a:latin typeface="Arial"/>
                <a:ea typeface="Arial"/>
                <a:cs typeface="Arial"/>
              </a:defRPr>
            </a:pPr>
            <a:r>
              <a:rPr sz="2100" b="0">
                <a:solidFill>
                  <a:srgbClr val="142E47"/>
                </a:solidFill>
                <a:latin typeface="Arial"/>
                <a:ea typeface="Arial"/>
                <a:cs typeface="Arial"/>
              </a:rPr>
              <a:t>Ảnh bất động sản</a:t>
            </a:r>
          </a:p>
          <a:p>
            <a:endParaRPr sz="2100" b="0">
              <a:solidFill>
                <a:srgbClr val="142E47"/>
              </a:solidFill>
              <a:latin typeface="Arial"/>
              <a:ea typeface="Arial"/>
              <a:cs typeface="Arial"/>
            </a:endParaRPr>
          </a:p>
          <a:p>
            <a:pPr>
              <a:defRPr sz="2100" b="0">
                <a:solidFill>
                  <a:srgbClr val="142E47"/>
                </a:solidFill>
                <a:latin typeface="Arial"/>
                <a:ea typeface="Arial"/>
                <a:cs typeface="Arial"/>
              </a:defRPr>
            </a:pPr>
            <a:r>
              <a:rPr sz="2100" b="0">
                <a:solidFill>
                  <a:srgbClr val="142E47"/>
                </a:solidFill>
                <a:latin typeface="Arial"/>
                <a:ea typeface="Arial"/>
                <a:cs typeface="Arial"/>
              </a:rPr>
              <a:t>Hồ sơ định danh</a:t>
            </a:r>
          </a:p>
          <a:p>
            <a:endParaRPr sz="2100" b="0">
              <a:solidFill>
                <a:srgbClr val="142E47"/>
              </a:solidFill>
              <a:latin typeface="Arial"/>
              <a:ea typeface="Arial"/>
              <a:cs typeface="Arial"/>
            </a:endParaRPr>
          </a:p>
          <a:p>
            <a:pPr>
              <a:defRPr sz="2100" b="0">
                <a:solidFill>
                  <a:srgbClr val="142E47"/>
                </a:solidFill>
                <a:latin typeface="Arial"/>
                <a:ea typeface="Arial"/>
                <a:cs typeface="Arial"/>
              </a:defRPr>
            </a:pPr>
            <a:r>
              <a:rPr sz="2100" b="0">
                <a:solidFill>
                  <a:srgbClr val="142E47"/>
                </a:solidFill>
                <a:latin typeface="Arial"/>
                <a:ea typeface="Arial"/>
                <a:cs typeface="Arial"/>
              </a:rPr>
              <a:t>Hợp đồng PDF và giấy tờ pháp lý</a:t>
            </a:r>
          </a:p>
          <a:p>
            <a:endParaRPr sz="2100" b="0">
              <a:solidFill>
                <a:srgbClr val="142E47"/>
              </a:solidFill>
              <a:latin typeface="Arial"/>
              <a:ea typeface="Arial"/>
              <a:cs typeface="Arial"/>
            </a:endParaRPr>
          </a:p>
          <a:p>
            <a:pPr>
              <a:defRPr sz="2100" b="0">
                <a:solidFill>
                  <a:srgbClr val="142E47"/>
                </a:solidFill>
                <a:latin typeface="Arial"/>
                <a:ea typeface="Arial"/>
                <a:cs typeface="Arial"/>
              </a:defRPr>
            </a:pPr>
            <a:r>
              <a:rPr sz="2100" b="0">
                <a:solidFill>
                  <a:srgbClr val="142E47"/>
                </a:solidFill>
                <a:latin typeface="Arial"/>
                <a:ea typeface="Arial"/>
                <a:cs typeface="Arial"/>
              </a:rPr>
              <a:t>Quyền truy cập tài liệu gốc</a:t>
            </a:r>
          </a:p>
        </p:txBody>
      </p:sp>
      <p:sp>
        <p:nvSpPr>
          <p:cNvPr id="7" name="Rectangle 6">
            <a:extLst>
              <a:ext uri="{FF2B5EF4-FFF2-40B4-BE49-F238E27FC236}">
                <a16:creationId xmlns:a16="http://schemas.microsoft.com/office/drawing/2014/main" id="{A7AF6580-DF70-4A69-B87D-615D2A84EA5F}"/>
              </a:ext>
            </a:extLst>
          </p:cNvPr>
          <p:cNvSpPr>
            <a:spLocks noGrp="1"/>
          </p:cNvSpPr>
          <p:nvPr/>
        </p:nvSpPr>
        <p:spPr>
          <a:xfrm>
            <a:off x="666750" y="5934075"/>
            <a:ext cx="10668000" cy="476250"/>
          </a:xfrm>
          <a:prstGeom prst="rect">
            <a:avLst/>
          </a:prstGeom>
          <a:noFill/>
          <a:ln w="0">
            <a:noFill/>
          </a:ln>
        </p:spPr>
        <p:txBody>
          <a:bodyPr>
            <a:noAutofit/>
          </a:bodyPr>
          <a:lstStyle/>
          <a:p>
            <a:pPr>
              <a:defRPr sz="1875" b="0">
                <a:solidFill>
                  <a:srgbClr val="50677A"/>
                </a:solidFill>
                <a:latin typeface="Arial"/>
                <a:ea typeface="Arial"/>
                <a:cs typeface="Arial"/>
              </a:defRPr>
            </a:pPr>
            <a:r>
              <a:rPr sz="1875" b="0">
                <a:solidFill>
                  <a:srgbClr val="50677A"/>
                </a:solidFill>
                <a:latin typeface="Arial"/>
                <a:ea typeface="Arial"/>
                <a:cs typeface="Arial"/>
              </a:rPr>
              <a:t>Chỉ đưa dữ liệu cần kiểm chứng lên chuỗi để hạn chế chi phí và lộ thông tin.</a:t>
            </a:r>
          </a:p>
        </p:txBody>
      </p:sp>
    </p:spTree>
    <p:extLst>
      <p:ext uri="{BB962C8B-B14F-4D97-AF65-F5344CB8AC3E}">
        <p14:creationId xmlns:p14="http://schemas.microsoft.com/office/powerpoint/2010/main" val="170748629"/>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9E6A7F0-52E9-45C0-A1D8-F57699C3F652}"/>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Smart Contract kiểm tra giao dịch</a:t>
            </a:r>
          </a:p>
        </p:txBody>
      </p:sp>
      <p:sp>
        <p:nvSpPr>
          <p:cNvPr id="2" name="Rectangle 1">
            <a:extLst>
              <a:ext uri="{FF2B5EF4-FFF2-40B4-BE49-F238E27FC236}">
                <a16:creationId xmlns:a16="http://schemas.microsoft.com/office/drawing/2014/main" id="{354976B6-E80D-4E50-9AF2-4F08DCED91CB}"/>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08</a:t>
            </a:r>
          </a:p>
        </p:txBody>
      </p:sp>
      <p:sp>
        <p:nvSpPr>
          <p:cNvPr id="3" name="Rectangle 2">
            <a:extLst>
              <a:ext uri="{FF2B5EF4-FFF2-40B4-BE49-F238E27FC236}">
                <a16:creationId xmlns:a16="http://schemas.microsoft.com/office/drawing/2014/main" id="{77379740-D322-478D-8623-7F806E7A6BA5}"/>
              </a:ext>
            </a:extLst>
          </p:cNvPr>
          <p:cNvSpPr>
            <a:spLocks noGrp="1"/>
          </p:cNvSpPr>
          <p:nvPr/>
        </p:nvSpPr>
        <p:spPr>
          <a:xfrm>
            <a:off x="685800" y="1676400"/>
            <a:ext cx="647700" cy="428625"/>
          </a:xfrm>
          <a:prstGeom prst="rect">
            <a:avLst/>
          </a:prstGeom>
          <a:noFill/>
          <a:ln w="0">
            <a:noFill/>
          </a:ln>
        </p:spPr>
        <p:txBody>
          <a:bodyPr>
            <a:noAutofit/>
          </a:bodyPr>
          <a:lstStyle/>
          <a:p>
            <a:pPr>
              <a:defRPr sz="2175" b="1">
                <a:solidFill>
                  <a:srgbClr val="087F8C"/>
                </a:solidFill>
                <a:latin typeface="Arial"/>
                <a:ea typeface="Arial"/>
                <a:cs typeface="Arial"/>
              </a:defRPr>
            </a:pPr>
            <a:r>
              <a:rPr sz="2175" b="1">
                <a:solidFill>
                  <a:srgbClr val="087F8C"/>
                </a:solidFill>
                <a:latin typeface="Arial"/>
                <a:ea typeface="Arial"/>
                <a:cs typeface="Arial"/>
              </a:rPr>
              <a:t>01</a:t>
            </a:r>
          </a:p>
        </p:txBody>
      </p:sp>
      <p:sp>
        <p:nvSpPr>
          <p:cNvPr id="4" name="Rectangle 3">
            <a:extLst>
              <a:ext uri="{FF2B5EF4-FFF2-40B4-BE49-F238E27FC236}">
                <a16:creationId xmlns:a16="http://schemas.microsoft.com/office/drawing/2014/main" id="{03FF5D16-14CC-4DA8-8322-324056482675}"/>
              </a:ext>
            </a:extLst>
          </p:cNvPr>
          <p:cNvSpPr>
            <a:spLocks noGrp="1"/>
          </p:cNvSpPr>
          <p:nvPr/>
        </p:nvSpPr>
        <p:spPr>
          <a:xfrm>
            <a:off x="1524000" y="1676400"/>
            <a:ext cx="9620250" cy="495300"/>
          </a:xfrm>
          <a:prstGeom prst="rect">
            <a:avLst/>
          </a:prstGeom>
          <a:noFill/>
          <a:ln w="0">
            <a:noFill/>
          </a:ln>
        </p:spPr>
        <p:txBody>
          <a:bodyPr>
            <a:noAutofit/>
          </a:bodyPr>
          <a:lstStyle/>
          <a:p>
            <a:pPr>
              <a:defRPr sz="2175" b="0">
                <a:solidFill>
                  <a:srgbClr val="142E47"/>
                </a:solidFill>
                <a:latin typeface="Arial"/>
                <a:ea typeface="Arial"/>
                <a:cs typeface="Arial"/>
              </a:defRPr>
            </a:pPr>
            <a:r>
              <a:rPr sz="2175" b="0">
                <a:solidFill>
                  <a:srgbClr val="142E47"/>
                </a:solidFill>
                <a:latin typeface="Arial"/>
                <a:ea typeface="Arial"/>
                <a:cs typeface="Arial"/>
              </a:rPr>
              <a:t>Tài sản tồn tại trong hệ thống</a:t>
            </a:r>
          </a:p>
        </p:txBody>
      </p:sp>
      <p:sp>
        <p:nvSpPr>
          <p:cNvPr id="5" name="Rectangle 4">
            <a:extLst>
              <a:ext uri="{FF2B5EF4-FFF2-40B4-BE49-F238E27FC236}">
                <a16:creationId xmlns:a16="http://schemas.microsoft.com/office/drawing/2014/main" id="{E7E80597-C306-407E-BAF6-0264E9DD9BD8}"/>
              </a:ext>
            </a:extLst>
          </p:cNvPr>
          <p:cNvSpPr>
            <a:spLocks noGrp="1"/>
          </p:cNvSpPr>
          <p:nvPr/>
        </p:nvSpPr>
        <p:spPr>
          <a:xfrm>
            <a:off x="685800" y="2447925"/>
            <a:ext cx="647700" cy="428625"/>
          </a:xfrm>
          <a:prstGeom prst="rect">
            <a:avLst/>
          </a:prstGeom>
          <a:noFill/>
          <a:ln w="0">
            <a:noFill/>
          </a:ln>
        </p:spPr>
        <p:txBody>
          <a:bodyPr>
            <a:noAutofit/>
          </a:bodyPr>
          <a:lstStyle/>
          <a:p>
            <a:pPr>
              <a:defRPr sz="2175" b="1">
                <a:solidFill>
                  <a:srgbClr val="087F8C"/>
                </a:solidFill>
                <a:latin typeface="Arial"/>
                <a:ea typeface="Arial"/>
                <a:cs typeface="Arial"/>
              </a:defRPr>
            </a:pPr>
            <a:r>
              <a:rPr sz="2175" b="1">
                <a:solidFill>
                  <a:srgbClr val="087F8C"/>
                </a:solidFill>
                <a:latin typeface="Arial"/>
                <a:ea typeface="Arial"/>
                <a:cs typeface="Arial"/>
              </a:rPr>
              <a:t>02</a:t>
            </a:r>
          </a:p>
        </p:txBody>
      </p:sp>
      <p:sp>
        <p:nvSpPr>
          <p:cNvPr id="6" name="Rectangle 5">
            <a:extLst>
              <a:ext uri="{FF2B5EF4-FFF2-40B4-BE49-F238E27FC236}">
                <a16:creationId xmlns:a16="http://schemas.microsoft.com/office/drawing/2014/main" id="{9D636F41-789B-4FE2-B10F-A680BBF1CACB}"/>
              </a:ext>
            </a:extLst>
          </p:cNvPr>
          <p:cNvSpPr>
            <a:spLocks noGrp="1"/>
          </p:cNvSpPr>
          <p:nvPr/>
        </p:nvSpPr>
        <p:spPr>
          <a:xfrm>
            <a:off x="1524000" y="2447925"/>
            <a:ext cx="9620250" cy="495300"/>
          </a:xfrm>
          <a:prstGeom prst="rect">
            <a:avLst/>
          </a:prstGeom>
          <a:noFill/>
          <a:ln w="0">
            <a:noFill/>
          </a:ln>
        </p:spPr>
        <p:txBody>
          <a:bodyPr>
            <a:noAutofit/>
          </a:bodyPr>
          <a:lstStyle/>
          <a:p>
            <a:pPr>
              <a:defRPr sz="2175" b="0">
                <a:solidFill>
                  <a:srgbClr val="142E47"/>
                </a:solidFill>
                <a:latin typeface="Arial"/>
                <a:ea typeface="Arial"/>
                <a:cs typeface="Arial"/>
              </a:defRPr>
            </a:pPr>
            <a:r>
              <a:rPr sz="2175" b="0">
                <a:solidFill>
                  <a:srgbClr val="142E47"/>
                </a:solidFill>
                <a:latin typeface="Arial"/>
                <a:ea typeface="Arial"/>
                <a:cs typeface="Arial"/>
              </a:rPr>
              <a:t>Tài sản đang được niêm yết</a:t>
            </a:r>
          </a:p>
        </p:txBody>
      </p:sp>
      <p:sp>
        <p:nvSpPr>
          <p:cNvPr id="7" name="Rectangle 6">
            <a:extLst>
              <a:ext uri="{FF2B5EF4-FFF2-40B4-BE49-F238E27FC236}">
                <a16:creationId xmlns:a16="http://schemas.microsoft.com/office/drawing/2014/main" id="{CA4B6AF4-49E6-4D9C-B3D9-A01648ADB5B8}"/>
              </a:ext>
            </a:extLst>
          </p:cNvPr>
          <p:cNvSpPr>
            <a:spLocks noGrp="1"/>
          </p:cNvSpPr>
          <p:nvPr/>
        </p:nvSpPr>
        <p:spPr>
          <a:xfrm>
            <a:off x="685800" y="3219450"/>
            <a:ext cx="647700" cy="428625"/>
          </a:xfrm>
          <a:prstGeom prst="rect">
            <a:avLst/>
          </a:prstGeom>
          <a:noFill/>
          <a:ln w="0">
            <a:noFill/>
          </a:ln>
        </p:spPr>
        <p:txBody>
          <a:bodyPr>
            <a:noAutofit/>
          </a:bodyPr>
          <a:lstStyle/>
          <a:p>
            <a:pPr>
              <a:defRPr sz="2175" b="1">
                <a:solidFill>
                  <a:srgbClr val="087F8C"/>
                </a:solidFill>
                <a:latin typeface="Arial"/>
                <a:ea typeface="Arial"/>
                <a:cs typeface="Arial"/>
              </a:defRPr>
            </a:pPr>
            <a:r>
              <a:rPr sz="2175" b="1">
                <a:solidFill>
                  <a:srgbClr val="087F8C"/>
                </a:solidFill>
                <a:latin typeface="Arial"/>
                <a:ea typeface="Arial"/>
                <a:cs typeface="Arial"/>
              </a:rPr>
              <a:t>03</a:t>
            </a:r>
          </a:p>
        </p:txBody>
      </p:sp>
      <p:sp>
        <p:nvSpPr>
          <p:cNvPr id="8" name="Rectangle 7">
            <a:extLst>
              <a:ext uri="{FF2B5EF4-FFF2-40B4-BE49-F238E27FC236}">
                <a16:creationId xmlns:a16="http://schemas.microsoft.com/office/drawing/2014/main" id="{4FEE4349-1B5C-430B-A3FC-632A7D50B113}"/>
              </a:ext>
            </a:extLst>
          </p:cNvPr>
          <p:cNvSpPr>
            <a:spLocks noGrp="1"/>
          </p:cNvSpPr>
          <p:nvPr/>
        </p:nvSpPr>
        <p:spPr>
          <a:xfrm>
            <a:off x="1524000" y="3219450"/>
            <a:ext cx="9620250" cy="495300"/>
          </a:xfrm>
          <a:prstGeom prst="rect">
            <a:avLst/>
          </a:prstGeom>
          <a:noFill/>
          <a:ln w="0">
            <a:noFill/>
          </a:ln>
        </p:spPr>
        <p:txBody>
          <a:bodyPr>
            <a:noAutofit/>
          </a:bodyPr>
          <a:lstStyle/>
          <a:p>
            <a:pPr>
              <a:defRPr sz="2175" b="0">
                <a:solidFill>
                  <a:srgbClr val="142E47"/>
                </a:solidFill>
                <a:latin typeface="Arial"/>
                <a:ea typeface="Arial"/>
                <a:cs typeface="Arial"/>
              </a:defRPr>
            </a:pPr>
            <a:r>
              <a:rPr sz="2175" b="0">
                <a:solidFill>
                  <a:srgbClr val="142E47"/>
                </a:solidFill>
                <a:latin typeface="Arial"/>
                <a:ea typeface="Arial"/>
                <a:cs typeface="Arial"/>
              </a:rPr>
              <a:t>Người mua khác chủ sở hữu hiện tại</a:t>
            </a:r>
          </a:p>
        </p:txBody>
      </p:sp>
      <p:sp>
        <p:nvSpPr>
          <p:cNvPr id="9" name="Rectangle 8">
            <a:extLst>
              <a:ext uri="{FF2B5EF4-FFF2-40B4-BE49-F238E27FC236}">
                <a16:creationId xmlns:a16="http://schemas.microsoft.com/office/drawing/2014/main" id="{1FA6D26E-93F6-44D1-8671-75ED98BE05B0}"/>
              </a:ext>
            </a:extLst>
          </p:cNvPr>
          <p:cNvSpPr>
            <a:spLocks noGrp="1"/>
          </p:cNvSpPr>
          <p:nvPr/>
        </p:nvSpPr>
        <p:spPr>
          <a:xfrm>
            <a:off x="685800" y="3990975"/>
            <a:ext cx="647700" cy="428625"/>
          </a:xfrm>
          <a:prstGeom prst="rect">
            <a:avLst/>
          </a:prstGeom>
          <a:noFill/>
          <a:ln w="0">
            <a:noFill/>
          </a:ln>
        </p:spPr>
        <p:txBody>
          <a:bodyPr>
            <a:noAutofit/>
          </a:bodyPr>
          <a:lstStyle/>
          <a:p>
            <a:pPr>
              <a:defRPr sz="2175" b="1">
                <a:solidFill>
                  <a:srgbClr val="087F8C"/>
                </a:solidFill>
                <a:latin typeface="Arial"/>
                <a:ea typeface="Arial"/>
                <a:cs typeface="Arial"/>
              </a:defRPr>
            </a:pPr>
            <a:r>
              <a:rPr sz="2175" b="1">
                <a:solidFill>
                  <a:srgbClr val="087F8C"/>
                </a:solidFill>
                <a:latin typeface="Arial"/>
                <a:ea typeface="Arial"/>
                <a:cs typeface="Arial"/>
              </a:rPr>
              <a:t>04</a:t>
            </a:r>
          </a:p>
        </p:txBody>
      </p:sp>
      <p:sp>
        <p:nvSpPr>
          <p:cNvPr id="10" name="Rectangle 9">
            <a:extLst>
              <a:ext uri="{FF2B5EF4-FFF2-40B4-BE49-F238E27FC236}">
                <a16:creationId xmlns:a16="http://schemas.microsoft.com/office/drawing/2014/main" id="{A329AEB4-DDB7-43AA-BA2E-49463CC4FC9F}"/>
              </a:ext>
            </a:extLst>
          </p:cNvPr>
          <p:cNvSpPr>
            <a:spLocks noGrp="1"/>
          </p:cNvSpPr>
          <p:nvPr/>
        </p:nvSpPr>
        <p:spPr>
          <a:xfrm>
            <a:off x="1524000" y="3990975"/>
            <a:ext cx="9620250" cy="495300"/>
          </a:xfrm>
          <a:prstGeom prst="rect">
            <a:avLst/>
          </a:prstGeom>
          <a:noFill/>
          <a:ln w="0">
            <a:noFill/>
          </a:ln>
        </p:spPr>
        <p:txBody>
          <a:bodyPr>
            <a:noAutofit/>
          </a:bodyPr>
          <a:lstStyle/>
          <a:p>
            <a:pPr>
              <a:defRPr sz="2175" b="0">
                <a:solidFill>
                  <a:srgbClr val="142E47"/>
                </a:solidFill>
                <a:latin typeface="Arial"/>
                <a:ea typeface="Arial"/>
                <a:cs typeface="Arial"/>
              </a:defRPr>
            </a:pPr>
            <a:r>
              <a:rPr sz="2175" b="0">
                <a:solidFill>
                  <a:srgbClr val="142E47"/>
                </a:solidFill>
                <a:latin typeface="Arial"/>
                <a:ea typeface="Arial"/>
                <a:cs typeface="Arial"/>
              </a:rPr>
              <a:t>Địa chỉ người mua hợp lệ</a:t>
            </a:r>
          </a:p>
        </p:txBody>
      </p:sp>
      <p:sp>
        <p:nvSpPr>
          <p:cNvPr id="11" name="Rectangle 10">
            <a:extLst>
              <a:ext uri="{FF2B5EF4-FFF2-40B4-BE49-F238E27FC236}">
                <a16:creationId xmlns:a16="http://schemas.microsoft.com/office/drawing/2014/main" id="{CA2780C1-1FDC-4057-BDCE-C7CF6154E315}"/>
              </a:ext>
            </a:extLst>
          </p:cNvPr>
          <p:cNvSpPr>
            <a:spLocks noGrp="1"/>
          </p:cNvSpPr>
          <p:nvPr/>
        </p:nvSpPr>
        <p:spPr>
          <a:xfrm>
            <a:off x="685800" y="4762500"/>
            <a:ext cx="647700" cy="428625"/>
          </a:xfrm>
          <a:prstGeom prst="rect">
            <a:avLst/>
          </a:prstGeom>
          <a:noFill/>
          <a:ln w="0">
            <a:noFill/>
          </a:ln>
        </p:spPr>
        <p:txBody>
          <a:bodyPr>
            <a:noAutofit/>
          </a:bodyPr>
          <a:lstStyle/>
          <a:p>
            <a:pPr>
              <a:defRPr sz="2175" b="1">
                <a:solidFill>
                  <a:srgbClr val="087F8C"/>
                </a:solidFill>
                <a:latin typeface="Arial"/>
                <a:ea typeface="Arial"/>
                <a:cs typeface="Arial"/>
              </a:defRPr>
            </a:pPr>
            <a:r>
              <a:rPr sz="2175" b="1">
                <a:solidFill>
                  <a:srgbClr val="087F8C"/>
                </a:solidFill>
                <a:latin typeface="Arial"/>
                <a:ea typeface="Arial"/>
                <a:cs typeface="Arial"/>
              </a:rPr>
              <a:t>05</a:t>
            </a:r>
          </a:p>
        </p:txBody>
      </p:sp>
      <p:sp>
        <p:nvSpPr>
          <p:cNvPr id="12" name="Rectangle 11">
            <a:extLst>
              <a:ext uri="{FF2B5EF4-FFF2-40B4-BE49-F238E27FC236}">
                <a16:creationId xmlns:a16="http://schemas.microsoft.com/office/drawing/2014/main" id="{A42036B3-519C-4189-8438-8CC05D823991}"/>
              </a:ext>
            </a:extLst>
          </p:cNvPr>
          <p:cNvSpPr>
            <a:spLocks noGrp="1"/>
          </p:cNvSpPr>
          <p:nvPr/>
        </p:nvSpPr>
        <p:spPr>
          <a:xfrm>
            <a:off x="1524000" y="4762500"/>
            <a:ext cx="9620250" cy="495300"/>
          </a:xfrm>
          <a:prstGeom prst="rect">
            <a:avLst/>
          </a:prstGeom>
          <a:noFill/>
          <a:ln w="0">
            <a:noFill/>
          </a:ln>
        </p:spPr>
        <p:txBody>
          <a:bodyPr>
            <a:noAutofit/>
          </a:bodyPr>
          <a:lstStyle/>
          <a:p>
            <a:pPr>
              <a:defRPr sz="2175" b="0">
                <a:solidFill>
                  <a:srgbClr val="142E47"/>
                </a:solidFill>
                <a:latin typeface="Arial"/>
                <a:ea typeface="Arial"/>
                <a:cs typeface="Arial"/>
              </a:defRPr>
            </a:pPr>
            <a:r>
              <a:rPr sz="2175" b="0">
                <a:solidFill>
                  <a:srgbClr val="142E47"/>
                </a:solidFill>
                <a:latin typeface="Arial"/>
                <a:ea typeface="Arial"/>
                <a:cs typeface="Arial"/>
              </a:rPr>
              <a:t>Số tiền gửi đáp ứng giá bán</a:t>
            </a:r>
          </a:p>
        </p:txBody>
      </p:sp>
      <p:sp>
        <p:nvSpPr>
          <p:cNvPr id="13" name="Rectangle 12">
            <a:extLst>
              <a:ext uri="{FF2B5EF4-FFF2-40B4-BE49-F238E27FC236}">
                <a16:creationId xmlns:a16="http://schemas.microsoft.com/office/drawing/2014/main" id="{288FB0D3-0266-43DC-B35D-39387C6CDE65}"/>
              </a:ext>
            </a:extLst>
          </p:cNvPr>
          <p:cNvSpPr>
            <a:spLocks noGrp="1"/>
          </p:cNvSpPr>
          <p:nvPr/>
        </p:nvSpPr>
        <p:spPr>
          <a:xfrm>
            <a:off x="685800" y="5867400"/>
            <a:ext cx="10668000" cy="504825"/>
          </a:xfrm>
          <a:prstGeom prst="rect">
            <a:avLst/>
          </a:prstGeom>
          <a:noFill/>
          <a:ln w="0">
            <a:noFill/>
          </a:ln>
        </p:spPr>
        <p:txBody>
          <a:bodyPr>
            <a:noAutofit/>
          </a:bodyPr>
          <a:lstStyle/>
          <a:p>
            <a:pPr>
              <a:defRPr sz="2025" b="1">
                <a:solidFill>
                  <a:srgbClr val="087F8C"/>
                </a:solidFill>
                <a:latin typeface="Arial"/>
                <a:ea typeface="Arial"/>
                <a:cs typeface="Arial"/>
              </a:defRPr>
            </a:pPr>
            <a:r>
              <a:rPr sz="2025" b="1" dirty="0" err="1">
                <a:solidFill>
                  <a:srgbClr val="087F8C"/>
                </a:solidFill>
                <a:latin typeface="Arial"/>
                <a:ea typeface="Arial"/>
                <a:cs typeface="Arial"/>
              </a:rPr>
              <a:t>Chỉ</a:t>
            </a:r>
            <a:r>
              <a:rPr sz="2025" b="1" dirty="0">
                <a:solidFill>
                  <a:srgbClr val="087F8C"/>
                </a:solidFill>
                <a:latin typeface="Arial"/>
                <a:ea typeface="Arial"/>
                <a:cs typeface="Arial"/>
              </a:rPr>
              <a:t> </a:t>
            </a:r>
            <a:r>
              <a:rPr sz="2025" b="1" dirty="0" err="1">
                <a:solidFill>
                  <a:srgbClr val="087F8C"/>
                </a:solidFill>
                <a:latin typeface="Arial"/>
                <a:ea typeface="Arial"/>
                <a:cs typeface="Arial"/>
              </a:rPr>
              <a:t>khi</a:t>
            </a:r>
            <a:r>
              <a:rPr sz="2025" b="1" dirty="0">
                <a:solidFill>
                  <a:srgbClr val="087F8C"/>
                </a:solidFill>
                <a:latin typeface="Arial"/>
                <a:ea typeface="Arial"/>
                <a:cs typeface="Arial"/>
              </a:rPr>
              <a:t> </a:t>
            </a:r>
            <a:r>
              <a:rPr sz="2025" b="1" dirty="0" err="1">
                <a:solidFill>
                  <a:srgbClr val="087F8C"/>
                </a:solidFill>
                <a:latin typeface="Arial"/>
                <a:ea typeface="Arial"/>
                <a:cs typeface="Arial"/>
              </a:rPr>
              <a:t>đủ</a:t>
            </a:r>
            <a:r>
              <a:rPr sz="2025" b="1" dirty="0">
                <a:solidFill>
                  <a:srgbClr val="087F8C"/>
                </a:solidFill>
                <a:latin typeface="Arial"/>
                <a:ea typeface="Arial"/>
                <a:cs typeface="Arial"/>
              </a:rPr>
              <a:t> </a:t>
            </a:r>
            <a:r>
              <a:rPr sz="2025" b="1" dirty="0" err="1">
                <a:solidFill>
                  <a:srgbClr val="087F8C"/>
                </a:solidFill>
                <a:latin typeface="Arial"/>
                <a:ea typeface="Arial"/>
                <a:cs typeface="Arial"/>
              </a:rPr>
              <a:t>điều</a:t>
            </a:r>
            <a:r>
              <a:rPr sz="2025" b="1" dirty="0">
                <a:solidFill>
                  <a:srgbClr val="087F8C"/>
                </a:solidFill>
                <a:latin typeface="Arial"/>
                <a:ea typeface="Arial"/>
                <a:cs typeface="Arial"/>
              </a:rPr>
              <a:t> </a:t>
            </a:r>
            <a:r>
              <a:rPr sz="2025" b="1" dirty="0" err="1">
                <a:solidFill>
                  <a:srgbClr val="087F8C"/>
                </a:solidFill>
                <a:latin typeface="Arial"/>
                <a:ea typeface="Arial"/>
                <a:cs typeface="Arial"/>
              </a:rPr>
              <a:t>kiện</a:t>
            </a:r>
            <a:r>
              <a:rPr sz="2025" b="1" dirty="0">
                <a:solidFill>
                  <a:srgbClr val="087F8C"/>
                </a:solidFill>
                <a:latin typeface="Arial"/>
                <a:ea typeface="Arial"/>
                <a:cs typeface="Arial"/>
              </a:rPr>
              <a:t>, </a:t>
            </a:r>
            <a:r>
              <a:rPr sz="2025" b="1" dirty="0" err="1">
                <a:solidFill>
                  <a:srgbClr val="087F8C"/>
                </a:solidFill>
                <a:latin typeface="Arial"/>
                <a:ea typeface="Arial"/>
                <a:cs typeface="Arial"/>
              </a:rPr>
              <a:t>hợp</a:t>
            </a:r>
            <a:r>
              <a:rPr sz="2025" b="1" dirty="0">
                <a:solidFill>
                  <a:srgbClr val="087F8C"/>
                </a:solidFill>
                <a:latin typeface="Arial"/>
                <a:ea typeface="Arial"/>
                <a:cs typeface="Arial"/>
              </a:rPr>
              <a:t> </a:t>
            </a:r>
            <a:r>
              <a:rPr sz="2025" b="1" dirty="0" err="1">
                <a:solidFill>
                  <a:srgbClr val="087F8C"/>
                </a:solidFill>
                <a:latin typeface="Arial"/>
                <a:ea typeface="Arial"/>
                <a:cs typeface="Arial"/>
              </a:rPr>
              <a:t>đồng</a:t>
            </a:r>
            <a:r>
              <a:rPr sz="2025" b="1" dirty="0">
                <a:solidFill>
                  <a:srgbClr val="087F8C"/>
                </a:solidFill>
                <a:latin typeface="Arial"/>
                <a:ea typeface="Arial"/>
                <a:cs typeface="Arial"/>
              </a:rPr>
              <a:t> </a:t>
            </a:r>
            <a:r>
              <a:rPr sz="2025" b="1" dirty="0" err="1">
                <a:solidFill>
                  <a:srgbClr val="087F8C"/>
                </a:solidFill>
                <a:latin typeface="Arial"/>
                <a:ea typeface="Arial"/>
                <a:cs typeface="Arial"/>
              </a:rPr>
              <a:t>mới</a:t>
            </a:r>
            <a:r>
              <a:rPr sz="2025" b="1" dirty="0">
                <a:solidFill>
                  <a:srgbClr val="087F8C"/>
                </a:solidFill>
                <a:latin typeface="Arial"/>
                <a:ea typeface="Arial"/>
                <a:cs typeface="Arial"/>
              </a:rPr>
              <a:t> </a:t>
            </a:r>
            <a:r>
              <a:rPr sz="2025" b="1" dirty="0" err="1">
                <a:solidFill>
                  <a:srgbClr val="087F8C"/>
                </a:solidFill>
                <a:latin typeface="Arial"/>
                <a:ea typeface="Arial"/>
                <a:cs typeface="Arial"/>
              </a:rPr>
              <a:t>tiếp</a:t>
            </a:r>
            <a:r>
              <a:rPr sz="2025" b="1" dirty="0">
                <a:solidFill>
                  <a:srgbClr val="087F8C"/>
                </a:solidFill>
                <a:latin typeface="Arial"/>
                <a:ea typeface="Arial"/>
                <a:cs typeface="Arial"/>
              </a:rPr>
              <a:t> </a:t>
            </a:r>
            <a:r>
              <a:rPr sz="2025" b="1" dirty="0" err="1">
                <a:solidFill>
                  <a:srgbClr val="087F8C"/>
                </a:solidFill>
                <a:latin typeface="Arial"/>
                <a:ea typeface="Arial"/>
                <a:cs typeface="Arial"/>
              </a:rPr>
              <a:t>tục</a:t>
            </a:r>
            <a:r>
              <a:rPr sz="2025" b="1" dirty="0">
                <a:solidFill>
                  <a:srgbClr val="087F8C"/>
                </a:solidFill>
                <a:latin typeface="Arial"/>
                <a:ea typeface="Arial"/>
                <a:cs typeface="Arial"/>
              </a:rPr>
              <a:t> </a:t>
            </a:r>
            <a:r>
              <a:rPr sz="2025" b="1" dirty="0" err="1">
                <a:solidFill>
                  <a:srgbClr val="087F8C"/>
                </a:solidFill>
                <a:latin typeface="Arial"/>
                <a:ea typeface="Arial"/>
                <a:cs typeface="Arial"/>
              </a:rPr>
              <a:t>xử</a:t>
            </a:r>
            <a:r>
              <a:rPr sz="2025" b="1" dirty="0">
                <a:solidFill>
                  <a:srgbClr val="087F8C"/>
                </a:solidFill>
                <a:latin typeface="Arial"/>
                <a:ea typeface="Arial"/>
                <a:cs typeface="Arial"/>
              </a:rPr>
              <a:t> </a:t>
            </a:r>
            <a:r>
              <a:rPr sz="2025" b="1" dirty="0" err="1">
                <a:solidFill>
                  <a:srgbClr val="087F8C"/>
                </a:solidFill>
                <a:latin typeface="Arial"/>
                <a:ea typeface="Arial"/>
                <a:cs typeface="Arial"/>
              </a:rPr>
              <a:t>lý</a:t>
            </a:r>
            <a:r>
              <a:rPr sz="2025" b="1" dirty="0">
                <a:solidFill>
                  <a:srgbClr val="087F8C"/>
                </a:solidFill>
                <a:latin typeface="Arial"/>
                <a:ea typeface="Arial"/>
                <a:cs typeface="Arial"/>
              </a:rPr>
              <a:t> </a:t>
            </a:r>
            <a:r>
              <a:rPr sz="2025" b="1" dirty="0" err="1">
                <a:solidFill>
                  <a:srgbClr val="087F8C"/>
                </a:solidFill>
                <a:latin typeface="Arial"/>
                <a:ea typeface="Arial"/>
                <a:cs typeface="Arial"/>
              </a:rPr>
              <a:t>giao</a:t>
            </a:r>
            <a:r>
              <a:rPr sz="2025" b="1" dirty="0">
                <a:solidFill>
                  <a:srgbClr val="087F8C"/>
                </a:solidFill>
                <a:latin typeface="Arial"/>
                <a:ea typeface="Arial"/>
                <a:cs typeface="Arial"/>
              </a:rPr>
              <a:t> </a:t>
            </a:r>
            <a:r>
              <a:rPr sz="2025" b="1" dirty="0" err="1">
                <a:solidFill>
                  <a:srgbClr val="087F8C"/>
                </a:solidFill>
                <a:latin typeface="Arial"/>
                <a:ea typeface="Arial"/>
                <a:cs typeface="Arial"/>
              </a:rPr>
              <a:t>dịch</a:t>
            </a:r>
            <a:r>
              <a:rPr sz="2025" b="1" dirty="0">
                <a:solidFill>
                  <a:srgbClr val="087F8C"/>
                </a:solidFill>
                <a:latin typeface="Arial"/>
                <a:ea typeface="Arial"/>
                <a:cs typeface="Arial"/>
              </a:rPr>
              <a:t>.</a:t>
            </a:r>
          </a:p>
        </p:txBody>
      </p:sp>
    </p:spTree>
    <p:extLst>
      <p:ext uri="{BB962C8B-B14F-4D97-AF65-F5344CB8AC3E}">
        <p14:creationId xmlns:p14="http://schemas.microsoft.com/office/powerpoint/2010/main" val="1951240089"/>
      </p:ext>
    </p:extLst>
  </p:cSld>
  <p:clrMapOvr>
    <a:masterClrMapping/>
  </p:clrMapOvr>
  <p:transition spd="slow">
    <p:push dir="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62450-62EC-4606-8E65-D9FA7258F0FF}"/>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Ví dụ minh họa một giao dịch</a:t>
            </a:r>
          </a:p>
        </p:txBody>
      </p:sp>
      <p:sp>
        <p:nvSpPr>
          <p:cNvPr id="2" name="Rectangle 1">
            <a:extLst>
              <a:ext uri="{FF2B5EF4-FFF2-40B4-BE49-F238E27FC236}">
                <a16:creationId xmlns:a16="http://schemas.microsoft.com/office/drawing/2014/main" id="{7599BA76-4273-4983-9E8E-FEB66082A346}"/>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09</a:t>
            </a:r>
          </a:p>
        </p:txBody>
      </p:sp>
      <p:sp>
        <p:nvSpPr>
          <p:cNvPr id="3" name="Rectangle 2">
            <a:extLst>
              <a:ext uri="{FF2B5EF4-FFF2-40B4-BE49-F238E27FC236}">
                <a16:creationId xmlns:a16="http://schemas.microsoft.com/office/drawing/2014/main" id="{D41EDDE9-CE68-48B7-961B-AB7D203A45E4}"/>
              </a:ext>
            </a:extLst>
          </p:cNvPr>
          <p:cNvSpPr>
            <a:spLocks noGrp="1"/>
          </p:cNvSpPr>
          <p:nvPr/>
        </p:nvSpPr>
        <p:spPr>
          <a:xfrm>
            <a:off x="647700" y="1752600"/>
            <a:ext cx="4762500" cy="666750"/>
          </a:xfrm>
          <a:prstGeom prst="rect">
            <a:avLst/>
          </a:prstGeom>
          <a:noFill/>
          <a:ln w="0">
            <a:noFill/>
          </a:ln>
        </p:spPr>
        <p:txBody>
          <a:bodyPr>
            <a:noAutofit/>
          </a:bodyPr>
          <a:lstStyle/>
          <a:p>
            <a:pPr>
              <a:defRPr sz="3375" b="1">
                <a:solidFill>
                  <a:srgbClr val="087F8C"/>
                </a:solidFill>
                <a:latin typeface="Arial"/>
                <a:ea typeface="Arial"/>
                <a:cs typeface="Arial"/>
              </a:defRPr>
            </a:pPr>
            <a:r>
              <a:rPr sz="3375" b="1">
                <a:solidFill>
                  <a:srgbClr val="087F8C"/>
                </a:solidFill>
                <a:latin typeface="Arial"/>
                <a:ea typeface="Arial"/>
                <a:cs typeface="Arial"/>
              </a:rPr>
              <a:t>BĐS số 01</a:t>
            </a:r>
          </a:p>
        </p:txBody>
      </p:sp>
      <p:sp>
        <p:nvSpPr>
          <p:cNvPr id="4" name="Rectangle 3">
            <a:extLst>
              <a:ext uri="{FF2B5EF4-FFF2-40B4-BE49-F238E27FC236}">
                <a16:creationId xmlns:a16="http://schemas.microsoft.com/office/drawing/2014/main" id="{255B4963-8353-4D18-99CE-51AA03046EBD}"/>
              </a:ext>
            </a:extLst>
          </p:cNvPr>
          <p:cNvSpPr>
            <a:spLocks noGrp="1"/>
          </p:cNvSpPr>
          <p:nvPr/>
        </p:nvSpPr>
        <p:spPr>
          <a:xfrm>
            <a:off x="647700" y="2686050"/>
            <a:ext cx="5715000" cy="1714500"/>
          </a:xfrm>
          <a:prstGeom prst="rect">
            <a:avLst/>
          </a:prstGeom>
          <a:noFill/>
          <a:ln w="0">
            <a:noFill/>
          </a:ln>
        </p:spPr>
        <p:txBody>
          <a:bodyPr>
            <a:noAutofit/>
          </a:bodyPr>
          <a:lstStyle/>
          <a:p>
            <a:pPr>
              <a:defRPr sz="2175" b="0">
                <a:solidFill>
                  <a:srgbClr val="142E47"/>
                </a:solidFill>
                <a:latin typeface="Arial"/>
                <a:ea typeface="Arial"/>
                <a:cs typeface="Arial"/>
              </a:defRPr>
            </a:pPr>
            <a:r>
              <a:rPr sz="2175" b="0">
                <a:solidFill>
                  <a:srgbClr val="142E47"/>
                </a:solidFill>
                <a:latin typeface="Arial"/>
                <a:ea typeface="Arial"/>
                <a:cs typeface="Arial"/>
              </a:rPr>
              <a:t>A đang sở hữu</a:t>
            </a:r>
          </a:p>
          <a:p>
            <a:pPr>
              <a:defRPr sz="2175" b="0">
                <a:solidFill>
                  <a:srgbClr val="142E47"/>
                </a:solidFill>
                <a:latin typeface="Arial"/>
                <a:ea typeface="Arial"/>
                <a:cs typeface="Arial"/>
              </a:defRPr>
            </a:pPr>
            <a:r>
              <a:rPr sz="2175" b="0">
                <a:solidFill>
                  <a:srgbClr val="142E47"/>
                </a:solidFill>
                <a:latin typeface="Arial"/>
                <a:ea typeface="Arial"/>
                <a:cs typeface="Arial"/>
              </a:rPr>
              <a:t>Giá niêm yết: 1 ETH thử nghiệm</a:t>
            </a:r>
          </a:p>
          <a:p>
            <a:pPr>
              <a:defRPr sz="2175" b="0">
                <a:solidFill>
                  <a:srgbClr val="142E47"/>
                </a:solidFill>
                <a:latin typeface="Arial"/>
                <a:ea typeface="Arial"/>
                <a:cs typeface="Arial"/>
              </a:defRPr>
            </a:pPr>
            <a:r>
              <a:rPr sz="2175" b="0">
                <a:solidFill>
                  <a:srgbClr val="142E47"/>
                </a:solidFill>
                <a:latin typeface="Arial"/>
                <a:ea typeface="Arial"/>
                <a:cs typeface="Arial"/>
              </a:rPr>
              <a:t>B gửi yêu cầu mua và đủ tiền</a:t>
            </a:r>
          </a:p>
        </p:txBody>
      </p:sp>
      <p:sp>
        <p:nvSpPr>
          <p:cNvPr id="5" name="Rectangle 4">
            <a:extLst>
              <a:ext uri="{FF2B5EF4-FFF2-40B4-BE49-F238E27FC236}">
                <a16:creationId xmlns:a16="http://schemas.microsoft.com/office/drawing/2014/main" id="{F9A5E941-1AA6-45C6-B614-8FA3DF2DAFAA}"/>
              </a:ext>
            </a:extLst>
          </p:cNvPr>
          <p:cNvSpPr>
            <a:spLocks noGrp="1"/>
          </p:cNvSpPr>
          <p:nvPr/>
        </p:nvSpPr>
        <p:spPr>
          <a:xfrm>
            <a:off x="6705600" y="1771650"/>
            <a:ext cx="4857750" cy="809625"/>
          </a:xfrm>
          <a:prstGeom prst="rect">
            <a:avLst/>
          </a:prstGeom>
          <a:noFill/>
          <a:ln w="0">
            <a:noFill/>
          </a:ln>
        </p:spPr>
        <p:txBody>
          <a:bodyPr>
            <a:noAutofit/>
          </a:bodyPr>
          <a:lstStyle/>
          <a:p>
            <a:pPr>
              <a:defRPr sz="2400" b="1">
                <a:solidFill>
                  <a:srgbClr val="142E47"/>
                </a:solidFill>
                <a:latin typeface="Arial"/>
                <a:ea typeface="Arial"/>
                <a:cs typeface="Arial"/>
              </a:defRPr>
            </a:pPr>
            <a:r>
              <a:rPr sz="2400" b="1">
                <a:solidFill>
                  <a:srgbClr val="142E47"/>
                </a:solidFill>
                <a:latin typeface="Arial"/>
                <a:ea typeface="Arial"/>
                <a:cs typeface="Arial"/>
              </a:rPr>
              <a:t>Kết quả khi giao dịch hợp lệ</a:t>
            </a:r>
          </a:p>
        </p:txBody>
      </p:sp>
      <p:sp>
        <p:nvSpPr>
          <p:cNvPr id="6" name="Rectangle 5">
            <a:extLst>
              <a:ext uri="{FF2B5EF4-FFF2-40B4-BE49-F238E27FC236}">
                <a16:creationId xmlns:a16="http://schemas.microsoft.com/office/drawing/2014/main" id="{7DB36866-9277-48E4-960D-B2A770DBEDA7}"/>
              </a:ext>
            </a:extLst>
          </p:cNvPr>
          <p:cNvSpPr>
            <a:spLocks noGrp="1"/>
          </p:cNvSpPr>
          <p:nvPr/>
        </p:nvSpPr>
        <p:spPr>
          <a:xfrm>
            <a:off x="6705600" y="2847975"/>
            <a:ext cx="4857750" cy="2190750"/>
          </a:xfrm>
          <a:prstGeom prst="rect">
            <a:avLst/>
          </a:prstGeom>
          <a:noFill/>
          <a:ln w="0">
            <a:noFill/>
          </a:ln>
        </p:spPr>
        <p:txBody>
          <a:bodyPr>
            <a:noAutofit/>
          </a:bodyPr>
          <a:lstStyle/>
          <a:p>
            <a:pPr>
              <a:defRPr sz="2100" b="0">
                <a:solidFill>
                  <a:srgbClr val="142E47"/>
                </a:solidFill>
                <a:latin typeface="Arial"/>
                <a:ea typeface="Arial"/>
                <a:cs typeface="Arial"/>
              </a:defRPr>
            </a:pPr>
            <a:r>
              <a:rPr sz="2100" b="0">
                <a:solidFill>
                  <a:srgbClr val="142E47"/>
                </a:solidFill>
                <a:latin typeface="Arial"/>
                <a:ea typeface="Arial"/>
                <a:cs typeface="Arial"/>
              </a:rPr>
              <a:t>Chủ sở hữu trong contract là B</a:t>
            </a:r>
          </a:p>
          <a:p>
            <a:endParaRPr sz="2100" b="0">
              <a:solidFill>
                <a:srgbClr val="142E47"/>
              </a:solidFill>
              <a:latin typeface="Arial"/>
              <a:ea typeface="Arial"/>
              <a:cs typeface="Arial"/>
            </a:endParaRPr>
          </a:p>
          <a:p>
            <a:pPr>
              <a:defRPr sz="2100" b="0">
                <a:solidFill>
                  <a:srgbClr val="142E47"/>
                </a:solidFill>
                <a:latin typeface="Arial"/>
                <a:ea typeface="Arial"/>
                <a:cs typeface="Arial"/>
              </a:defRPr>
            </a:pPr>
            <a:r>
              <a:rPr sz="2100" b="0">
                <a:solidFill>
                  <a:srgbClr val="142E47"/>
                </a:solidFill>
                <a:latin typeface="Arial"/>
                <a:ea typeface="Arial"/>
                <a:cs typeface="Arial"/>
              </a:rPr>
              <a:t>Tài sản ngừng niêm yết</a:t>
            </a:r>
          </a:p>
          <a:p>
            <a:endParaRPr sz="2100" b="0">
              <a:solidFill>
                <a:srgbClr val="142E47"/>
              </a:solidFill>
              <a:latin typeface="Arial"/>
              <a:ea typeface="Arial"/>
              <a:cs typeface="Arial"/>
            </a:endParaRPr>
          </a:p>
          <a:p>
            <a:pPr>
              <a:defRPr sz="2100" b="0">
                <a:solidFill>
                  <a:srgbClr val="142E47"/>
                </a:solidFill>
                <a:latin typeface="Arial"/>
                <a:ea typeface="Arial"/>
                <a:cs typeface="Arial"/>
              </a:defRPr>
            </a:pPr>
            <a:r>
              <a:rPr sz="2100" b="0">
                <a:solidFill>
                  <a:srgbClr val="142E47"/>
                </a:solidFill>
                <a:latin typeface="Arial"/>
                <a:ea typeface="Arial"/>
                <a:cs typeface="Arial"/>
              </a:rPr>
              <a:t>Lịch sử ghi nhận A, B, giá và thời điểm</a:t>
            </a:r>
          </a:p>
        </p:txBody>
      </p:sp>
    </p:spTree>
    <p:extLst>
      <p:ext uri="{BB962C8B-B14F-4D97-AF65-F5344CB8AC3E}">
        <p14:creationId xmlns:p14="http://schemas.microsoft.com/office/powerpoint/2010/main" val="182817309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971E60-9DB3-47D2-9BA9-55F2E911AAD1}"/>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Phạm vi prototype của nhóm</a:t>
            </a:r>
          </a:p>
        </p:txBody>
      </p:sp>
      <p:sp>
        <p:nvSpPr>
          <p:cNvPr id="2" name="Rectangle 1">
            <a:extLst>
              <a:ext uri="{FF2B5EF4-FFF2-40B4-BE49-F238E27FC236}">
                <a16:creationId xmlns:a16="http://schemas.microsoft.com/office/drawing/2014/main" id="{A0B0C4B6-D8A3-4637-90D7-A039431B59D0}"/>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10</a:t>
            </a:r>
          </a:p>
        </p:txBody>
      </p:sp>
      <p:sp>
        <p:nvSpPr>
          <p:cNvPr id="3" name="Rectangle 2">
            <a:extLst>
              <a:ext uri="{FF2B5EF4-FFF2-40B4-BE49-F238E27FC236}">
                <a16:creationId xmlns:a16="http://schemas.microsoft.com/office/drawing/2014/main" id="{204675CA-3F5F-40E5-9EEE-15DDC4FBEAEA}"/>
              </a:ext>
            </a:extLst>
          </p:cNvPr>
          <p:cNvSpPr>
            <a:spLocks noGrp="1"/>
          </p:cNvSpPr>
          <p:nvPr/>
        </p:nvSpPr>
        <p:spPr>
          <a:xfrm>
            <a:off x="647700" y="1714500"/>
            <a:ext cx="6000750" cy="523875"/>
          </a:xfrm>
          <a:prstGeom prst="rect">
            <a:avLst/>
          </a:prstGeom>
          <a:noFill/>
          <a:ln w="0">
            <a:noFill/>
          </a:ln>
        </p:spPr>
        <p:txBody>
          <a:bodyPr>
            <a:noAutofit/>
          </a:bodyPr>
          <a:lstStyle/>
          <a:p>
            <a:pPr>
              <a:defRPr sz="2625" b="1">
                <a:solidFill>
                  <a:srgbClr val="087F8C"/>
                </a:solidFill>
                <a:latin typeface="Arial"/>
                <a:ea typeface="Arial"/>
                <a:cs typeface="Arial"/>
              </a:defRPr>
            </a:pPr>
            <a:r>
              <a:rPr sz="2625" b="1">
                <a:solidFill>
                  <a:srgbClr val="087F8C"/>
                </a:solidFill>
                <a:latin typeface="Arial"/>
                <a:ea typeface="Arial"/>
                <a:cs typeface="Arial"/>
              </a:rPr>
              <a:t>Smart Contract Solidity</a:t>
            </a:r>
          </a:p>
        </p:txBody>
      </p:sp>
      <p:sp>
        <p:nvSpPr>
          <p:cNvPr id="4" name="Rectangle 3">
            <a:extLst>
              <a:ext uri="{FF2B5EF4-FFF2-40B4-BE49-F238E27FC236}">
                <a16:creationId xmlns:a16="http://schemas.microsoft.com/office/drawing/2014/main" id="{8154C03E-B710-48AB-A2D8-7A044645D52D}"/>
              </a:ext>
            </a:extLst>
          </p:cNvPr>
          <p:cNvSpPr>
            <a:spLocks noGrp="1"/>
          </p:cNvSpPr>
          <p:nvPr/>
        </p:nvSpPr>
        <p:spPr>
          <a:xfrm>
            <a:off x="647700" y="2476500"/>
            <a:ext cx="10477500" cy="2143125"/>
          </a:xfrm>
          <a:prstGeom prst="rect">
            <a:avLst/>
          </a:prstGeom>
          <a:noFill/>
          <a:ln w="0">
            <a:noFill/>
          </a:ln>
        </p:spPr>
        <p:txBody>
          <a:bodyPr>
            <a:noAutofit/>
          </a:bodyPr>
          <a:lstStyle/>
          <a:p>
            <a:pPr>
              <a:defRPr sz="2250" b="0">
                <a:solidFill>
                  <a:srgbClr val="142E47"/>
                </a:solidFill>
                <a:latin typeface="Arial"/>
                <a:ea typeface="Arial"/>
                <a:cs typeface="Arial"/>
              </a:defRPr>
            </a:pPr>
            <a:r>
              <a:rPr sz="2250" b="0">
                <a:solidFill>
                  <a:srgbClr val="142E47"/>
                </a:solidFill>
                <a:latin typeface="Arial"/>
                <a:ea typeface="Arial"/>
                <a:cs typeface="Arial"/>
              </a:rPr>
              <a:t>Đăng ký, xác nhận và niêm yết tài sản</a:t>
            </a:r>
          </a:p>
          <a:p>
            <a:endParaRPr sz="2250" b="0">
              <a:solidFill>
                <a:srgbClr val="142E47"/>
              </a:solidFill>
              <a:latin typeface="Arial"/>
              <a:ea typeface="Arial"/>
              <a:cs typeface="Arial"/>
            </a:endParaRPr>
          </a:p>
          <a:p>
            <a:pPr>
              <a:defRPr sz="2250" b="0">
                <a:solidFill>
                  <a:srgbClr val="142E47"/>
                </a:solidFill>
                <a:latin typeface="Arial"/>
                <a:ea typeface="Arial"/>
                <a:cs typeface="Arial"/>
              </a:defRPr>
            </a:pPr>
            <a:r>
              <a:rPr sz="2250" b="0">
                <a:solidFill>
                  <a:srgbClr val="142E47"/>
                </a:solidFill>
                <a:latin typeface="Arial"/>
                <a:ea typeface="Arial"/>
                <a:cs typeface="Arial"/>
              </a:rPr>
              <a:t>Kiểm tra điều kiện và thanh toán thử nghiệm</a:t>
            </a:r>
          </a:p>
          <a:p>
            <a:endParaRPr sz="2250" b="0">
              <a:solidFill>
                <a:srgbClr val="142E47"/>
              </a:solidFill>
              <a:latin typeface="Arial"/>
              <a:ea typeface="Arial"/>
              <a:cs typeface="Arial"/>
            </a:endParaRPr>
          </a:p>
          <a:p>
            <a:pPr>
              <a:defRPr sz="2250" b="0">
                <a:solidFill>
                  <a:srgbClr val="142E47"/>
                </a:solidFill>
                <a:latin typeface="Arial"/>
                <a:ea typeface="Arial"/>
                <a:cs typeface="Arial"/>
              </a:defRPr>
            </a:pPr>
            <a:r>
              <a:rPr sz="2250" b="0">
                <a:solidFill>
                  <a:srgbClr val="142E47"/>
                </a:solidFill>
                <a:latin typeface="Arial"/>
                <a:ea typeface="Arial"/>
                <a:cs typeface="Arial"/>
              </a:rPr>
              <a:t>Cập nhật chủ sở hữu, ghi lịch sử giao dịch</a:t>
            </a:r>
          </a:p>
        </p:txBody>
      </p:sp>
    </p:spTree>
    <p:extLst>
      <p:ext uri="{BB962C8B-B14F-4D97-AF65-F5344CB8AC3E}">
        <p14:creationId xmlns:p14="http://schemas.microsoft.com/office/powerpoint/2010/main" val="664937853"/>
      </p:ext>
    </p:extLst>
  </p:cSld>
  <p:clrMapOvr>
    <a:masterClrMapping/>
  </p:clrMapOvr>
  <p:transition spd="slow">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27330B-D5F2-4AA9-936D-443A8FE46C55}"/>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142E47"/>
                </a:solidFill>
                <a:latin typeface="Arial"/>
                <a:ea typeface="Arial"/>
                <a:cs typeface="Arial"/>
              </a:defRPr>
            </a:pPr>
            <a:r>
              <a:rPr sz="3075" b="1">
                <a:solidFill>
                  <a:srgbClr val="142E47"/>
                </a:solidFill>
                <a:latin typeface="Arial"/>
                <a:ea typeface="Arial"/>
                <a:cs typeface="Arial"/>
              </a:rPr>
              <a:t>Giá trị và giới hạn của giải pháp</a:t>
            </a:r>
          </a:p>
        </p:txBody>
      </p:sp>
      <p:sp>
        <p:nvSpPr>
          <p:cNvPr id="2" name="Rectangle 1">
            <a:extLst>
              <a:ext uri="{FF2B5EF4-FFF2-40B4-BE49-F238E27FC236}">
                <a16:creationId xmlns:a16="http://schemas.microsoft.com/office/drawing/2014/main" id="{7136D6E7-E097-4E10-BBC2-896AA64B8590}"/>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50677A"/>
                </a:solidFill>
                <a:latin typeface="Arial"/>
                <a:ea typeface="Arial"/>
                <a:cs typeface="Arial"/>
              </a:defRPr>
            </a:pPr>
            <a:r>
              <a:rPr sz="1275" b="0">
                <a:solidFill>
                  <a:srgbClr val="50677A"/>
                </a:solidFill>
                <a:latin typeface="Arial"/>
                <a:ea typeface="Arial"/>
                <a:cs typeface="Arial"/>
              </a:rPr>
              <a:t>11</a:t>
            </a:r>
          </a:p>
        </p:txBody>
      </p:sp>
      <p:sp>
        <p:nvSpPr>
          <p:cNvPr id="3" name="Rectangle 2">
            <a:extLst>
              <a:ext uri="{FF2B5EF4-FFF2-40B4-BE49-F238E27FC236}">
                <a16:creationId xmlns:a16="http://schemas.microsoft.com/office/drawing/2014/main" id="{EF7E28CF-EE30-42DA-921C-386DED0E5E18}"/>
              </a:ext>
            </a:extLst>
          </p:cNvPr>
          <p:cNvSpPr>
            <a:spLocks noGrp="1"/>
          </p:cNvSpPr>
          <p:nvPr/>
        </p:nvSpPr>
        <p:spPr>
          <a:xfrm>
            <a:off x="647700" y="1695450"/>
            <a:ext cx="5048250" cy="476250"/>
          </a:xfrm>
          <a:prstGeom prst="rect">
            <a:avLst/>
          </a:prstGeom>
          <a:noFill/>
          <a:ln w="0">
            <a:noFill/>
          </a:ln>
        </p:spPr>
        <p:txBody>
          <a:bodyPr>
            <a:noAutofit/>
          </a:bodyPr>
          <a:lstStyle/>
          <a:p>
            <a:pPr>
              <a:defRPr sz="2550" b="1">
                <a:solidFill>
                  <a:srgbClr val="087F8C"/>
                </a:solidFill>
                <a:latin typeface="Arial"/>
                <a:ea typeface="Arial"/>
                <a:cs typeface="Arial"/>
              </a:defRPr>
            </a:pPr>
            <a:r>
              <a:rPr sz="2550" b="1">
                <a:solidFill>
                  <a:srgbClr val="087F8C"/>
                </a:solidFill>
                <a:latin typeface="Arial"/>
                <a:ea typeface="Arial"/>
                <a:cs typeface="Arial"/>
              </a:rPr>
              <a:t>Giá trị kỳ vọng</a:t>
            </a:r>
          </a:p>
        </p:txBody>
      </p:sp>
      <p:sp>
        <p:nvSpPr>
          <p:cNvPr id="4" name="Rectangle 3">
            <a:extLst>
              <a:ext uri="{FF2B5EF4-FFF2-40B4-BE49-F238E27FC236}">
                <a16:creationId xmlns:a16="http://schemas.microsoft.com/office/drawing/2014/main" id="{162F2A2F-2015-4D31-A016-37EA3B59E78A}"/>
              </a:ext>
            </a:extLst>
          </p:cNvPr>
          <p:cNvSpPr>
            <a:spLocks noGrp="1"/>
          </p:cNvSpPr>
          <p:nvPr/>
        </p:nvSpPr>
        <p:spPr>
          <a:xfrm>
            <a:off x="647700" y="2438400"/>
            <a:ext cx="5048250" cy="3190875"/>
          </a:xfrm>
          <a:prstGeom prst="rect">
            <a:avLst/>
          </a:prstGeom>
          <a:noFill/>
          <a:ln w="0">
            <a:noFill/>
          </a:ln>
        </p:spPr>
        <p:txBody>
          <a:bodyPr>
            <a:noAutofit/>
          </a:bodyPr>
          <a:lstStyle/>
          <a:p>
            <a:pPr>
              <a:defRPr sz="2025" b="0">
                <a:solidFill>
                  <a:srgbClr val="142E47"/>
                </a:solidFill>
                <a:latin typeface="Arial"/>
                <a:ea typeface="Arial"/>
                <a:cs typeface="Arial"/>
              </a:defRPr>
            </a:pPr>
            <a:r>
              <a:rPr sz="2025" b="0">
                <a:solidFill>
                  <a:srgbClr val="142E47"/>
                </a:solidFill>
                <a:latin typeface="Arial"/>
                <a:ea typeface="Arial"/>
                <a:cs typeface="Arial"/>
              </a:rPr>
              <a:t>Dễ tra cứu lịch sử chuyển nhượng</a:t>
            </a:r>
          </a:p>
          <a:p>
            <a:endParaRPr sz="2025" b="0">
              <a:solidFill>
                <a:srgbClr val="142E47"/>
              </a:solidFill>
              <a:latin typeface="Arial"/>
              <a:ea typeface="Arial"/>
              <a:cs typeface="Arial"/>
            </a:endParaRPr>
          </a:p>
          <a:p>
            <a:pPr>
              <a:defRPr sz="2025" b="0">
                <a:solidFill>
                  <a:srgbClr val="142E47"/>
                </a:solidFill>
                <a:latin typeface="Arial"/>
                <a:ea typeface="Arial"/>
                <a:cs typeface="Arial"/>
              </a:defRPr>
            </a:pPr>
            <a:r>
              <a:rPr sz="2025" b="0">
                <a:solidFill>
                  <a:srgbClr val="142E47"/>
                </a:solidFill>
                <a:latin typeface="Arial"/>
                <a:ea typeface="Arial"/>
                <a:cs typeface="Arial"/>
              </a:rPr>
              <a:t>Hỗ trợ phát hiện dữ liệu thay đổi</a:t>
            </a:r>
          </a:p>
          <a:p>
            <a:endParaRPr sz="2025" b="0">
              <a:solidFill>
                <a:srgbClr val="142E47"/>
              </a:solidFill>
              <a:latin typeface="Arial"/>
              <a:ea typeface="Arial"/>
              <a:cs typeface="Arial"/>
            </a:endParaRPr>
          </a:p>
          <a:p>
            <a:pPr>
              <a:defRPr sz="2025" b="0">
                <a:solidFill>
                  <a:srgbClr val="142E47"/>
                </a:solidFill>
                <a:latin typeface="Arial"/>
                <a:ea typeface="Arial"/>
                <a:cs typeface="Arial"/>
              </a:defRPr>
            </a:pPr>
            <a:r>
              <a:rPr sz="2025" b="0">
                <a:solidFill>
                  <a:srgbClr val="142E47"/>
                </a:solidFill>
                <a:latin typeface="Arial"/>
                <a:ea typeface="Arial"/>
                <a:cs typeface="Arial"/>
              </a:rPr>
              <a:t>Tự động kiểm tra điều kiện rõ ràng</a:t>
            </a:r>
          </a:p>
          <a:p>
            <a:endParaRPr sz="2025" b="0">
              <a:solidFill>
                <a:srgbClr val="142E47"/>
              </a:solidFill>
              <a:latin typeface="Arial"/>
              <a:ea typeface="Arial"/>
              <a:cs typeface="Arial"/>
            </a:endParaRPr>
          </a:p>
          <a:p>
            <a:pPr>
              <a:defRPr sz="2025" b="0">
                <a:solidFill>
                  <a:srgbClr val="142E47"/>
                </a:solidFill>
                <a:latin typeface="Arial"/>
                <a:ea typeface="Arial"/>
                <a:cs typeface="Arial"/>
              </a:defRPr>
            </a:pPr>
            <a:r>
              <a:rPr sz="2025" b="0">
                <a:solidFill>
                  <a:srgbClr val="142E47"/>
                </a:solidFill>
                <a:latin typeface="Arial"/>
                <a:ea typeface="Arial"/>
                <a:cs typeface="Arial"/>
              </a:rPr>
              <a:t>Đối chiếu thông tin giữa các bên</a:t>
            </a:r>
          </a:p>
        </p:txBody>
      </p:sp>
      <p:sp>
        <p:nvSpPr>
          <p:cNvPr id="5" name="Rectangle 4">
            <a:extLst>
              <a:ext uri="{FF2B5EF4-FFF2-40B4-BE49-F238E27FC236}">
                <a16:creationId xmlns:a16="http://schemas.microsoft.com/office/drawing/2014/main" id="{CD94EC18-8B6C-491F-9AD4-B998422EC033}"/>
              </a:ext>
            </a:extLst>
          </p:cNvPr>
          <p:cNvSpPr>
            <a:spLocks noGrp="1"/>
          </p:cNvSpPr>
          <p:nvPr/>
        </p:nvSpPr>
        <p:spPr>
          <a:xfrm>
            <a:off x="6715125" y="1695450"/>
            <a:ext cx="4857750" cy="476250"/>
          </a:xfrm>
          <a:prstGeom prst="rect">
            <a:avLst/>
          </a:prstGeom>
          <a:noFill/>
          <a:ln w="0">
            <a:noFill/>
          </a:ln>
        </p:spPr>
        <p:txBody>
          <a:bodyPr>
            <a:noAutofit/>
          </a:bodyPr>
          <a:lstStyle/>
          <a:p>
            <a:pPr>
              <a:defRPr sz="2550" b="1">
                <a:solidFill>
                  <a:srgbClr val="087F8C"/>
                </a:solidFill>
                <a:latin typeface="Arial"/>
                <a:ea typeface="Arial"/>
                <a:cs typeface="Arial"/>
              </a:defRPr>
            </a:pPr>
            <a:r>
              <a:rPr sz="2550" b="1">
                <a:solidFill>
                  <a:srgbClr val="087F8C"/>
                </a:solidFill>
                <a:latin typeface="Arial"/>
                <a:ea typeface="Arial"/>
                <a:cs typeface="Arial"/>
              </a:rPr>
              <a:t>Giới hạn cần xử lý</a:t>
            </a:r>
          </a:p>
        </p:txBody>
      </p:sp>
      <p:sp>
        <p:nvSpPr>
          <p:cNvPr id="6" name="Rectangle 5">
            <a:extLst>
              <a:ext uri="{FF2B5EF4-FFF2-40B4-BE49-F238E27FC236}">
                <a16:creationId xmlns:a16="http://schemas.microsoft.com/office/drawing/2014/main" id="{AB64512B-2ADA-4FF3-8982-8BFAAD17777E}"/>
              </a:ext>
            </a:extLst>
          </p:cNvPr>
          <p:cNvSpPr>
            <a:spLocks noGrp="1"/>
          </p:cNvSpPr>
          <p:nvPr/>
        </p:nvSpPr>
        <p:spPr>
          <a:xfrm>
            <a:off x="6715125" y="2438400"/>
            <a:ext cx="4857750" cy="3190875"/>
          </a:xfrm>
          <a:prstGeom prst="rect">
            <a:avLst/>
          </a:prstGeom>
          <a:noFill/>
          <a:ln w="0">
            <a:noFill/>
          </a:ln>
        </p:spPr>
        <p:txBody>
          <a:bodyPr>
            <a:noAutofit/>
          </a:bodyPr>
          <a:lstStyle/>
          <a:p>
            <a:pPr>
              <a:defRPr sz="2025" b="0">
                <a:solidFill>
                  <a:srgbClr val="142E47"/>
                </a:solidFill>
                <a:latin typeface="Arial"/>
                <a:ea typeface="Arial"/>
                <a:cs typeface="Arial"/>
              </a:defRPr>
            </a:pPr>
            <a:r>
              <a:rPr sz="2025" b="0">
                <a:solidFill>
                  <a:srgbClr val="142E47"/>
                </a:solidFill>
                <a:latin typeface="Arial"/>
                <a:ea typeface="Arial"/>
                <a:cs typeface="Arial"/>
              </a:rPr>
              <a:t>Đầu vào vẫn cần người xác minh</a:t>
            </a:r>
          </a:p>
          <a:p>
            <a:endParaRPr sz="2025" b="0">
              <a:solidFill>
                <a:srgbClr val="142E47"/>
              </a:solidFill>
              <a:latin typeface="Arial"/>
              <a:ea typeface="Arial"/>
              <a:cs typeface="Arial"/>
            </a:endParaRPr>
          </a:p>
          <a:p>
            <a:pPr>
              <a:defRPr sz="2025" b="0">
                <a:solidFill>
                  <a:srgbClr val="142E47"/>
                </a:solidFill>
                <a:latin typeface="Arial"/>
                <a:ea typeface="Arial"/>
                <a:cs typeface="Arial"/>
              </a:defRPr>
            </a:pPr>
            <a:r>
              <a:rPr sz="2025" b="0">
                <a:solidFill>
                  <a:srgbClr val="142E47"/>
                </a:solidFill>
                <a:latin typeface="Arial"/>
                <a:ea typeface="Arial"/>
                <a:cs typeface="Arial"/>
              </a:rPr>
              <a:t>Cần bảo vệ dữ liệu và khóa ví</a:t>
            </a:r>
          </a:p>
          <a:p>
            <a:endParaRPr sz="2025" b="0">
              <a:solidFill>
                <a:srgbClr val="142E47"/>
              </a:solidFill>
              <a:latin typeface="Arial"/>
              <a:ea typeface="Arial"/>
              <a:cs typeface="Arial"/>
            </a:endParaRPr>
          </a:p>
          <a:p>
            <a:pPr>
              <a:defRPr sz="2025" b="0">
                <a:solidFill>
                  <a:srgbClr val="142E47"/>
                </a:solidFill>
                <a:latin typeface="Arial"/>
                <a:ea typeface="Arial"/>
                <a:cs typeface="Arial"/>
              </a:defRPr>
            </a:pPr>
            <a:r>
              <a:rPr sz="2025" b="0">
                <a:solidFill>
                  <a:srgbClr val="142E47"/>
                </a:solidFill>
                <a:latin typeface="Arial"/>
                <a:ea typeface="Arial"/>
                <a:cs typeface="Arial"/>
              </a:rPr>
              <a:t>Chuyển quyền pháp lý cần thủ tục riêng</a:t>
            </a:r>
          </a:p>
          <a:p>
            <a:endParaRPr sz="2025" b="0">
              <a:solidFill>
                <a:srgbClr val="142E47"/>
              </a:solidFill>
              <a:latin typeface="Arial"/>
              <a:ea typeface="Arial"/>
              <a:cs typeface="Arial"/>
            </a:endParaRPr>
          </a:p>
          <a:p>
            <a:pPr>
              <a:defRPr sz="2025" b="0">
                <a:solidFill>
                  <a:srgbClr val="142E47"/>
                </a:solidFill>
                <a:latin typeface="Arial"/>
                <a:ea typeface="Arial"/>
                <a:cs typeface="Arial"/>
              </a:defRPr>
            </a:pPr>
            <a:r>
              <a:rPr sz="2025" b="0">
                <a:solidFill>
                  <a:srgbClr val="142E47"/>
                </a:solidFill>
                <a:latin typeface="Arial"/>
                <a:ea typeface="Arial"/>
                <a:cs typeface="Arial"/>
              </a:rPr>
              <a:t>Phải kiểm thử trước khi triển khai</a:t>
            </a:r>
          </a:p>
        </p:txBody>
      </p:sp>
    </p:spTree>
    <p:extLst>
      <p:ext uri="{BB962C8B-B14F-4D97-AF65-F5344CB8AC3E}">
        <p14:creationId xmlns:p14="http://schemas.microsoft.com/office/powerpoint/2010/main" val="88044444"/>
      </p:ext>
    </p:extLst>
  </p:cSld>
  <p:clrMapOvr>
    <a:masterClrMapping/>
  </p:clrMapOvr>
  <p:transition spd="slow">
    <p:cover dir="d"/>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B4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7EA9D1B-938B-48A6-ABDB-E16AF57DE6A8}"/>
              </a:ext>
            </a:extLst>
          </p:cNvPr>
          <p:cNvSpPr>
            <a:spLocks noGrp="1"/>
          </p:cNvSpPr>
          <p:nvPr/>
        </p:nvSpPr>
        <p:spPr>
          <a:xfrm>
            <a:off x="609600" y="495300"/>
            <a:ext cx="10953750" cy="838200"/>
          </a:xfrm>
          <a:prstGeom prst="rect">
            <a:avLst/>
          </a:prstGeom>
          <a:noFill/>
          <a:ln w="0">
            <a:noFill/>
          </a:ln>
        </p:spPr>
        <p:txBody>
          <a:bodyPr>
            <a:noAutofit/>
          </a:bodyPr>
          <a:lstStyle/>
          <a:p>
            <a:pPr>
              <a:defRPr sz="3075" b="1">
                <a:solidFill>
                  <a:srgbClr val="FFFFFF"/>
                </a:solidFill>
                <a:latin typeface="Arial"/>
                <a:ea typeface="Arial"/>
                <a:cs typeface="Arial"/>
              </a:defRPr>
            </a:pPr>
            <a:r>
              <a:rPr sz="3075" b="1">
                <a:solidFill>
                  <a:srgbClr val="FFFFFF"/>
                </a:solidFill>
                <a:latin typeface="Arial"/>
                <a:ea typeface="Arial"/>
                <a:cs typeface="Arial"/>
              </a:rPr>
              <a:t>Hướng phát triển của nhóm</a:t>
            </a:r>
          </a:p>
        </p:txBody>
      </p:sp>
      <p:sp>
        <p:nvSpPr>
          <p:cNvPr id="2" name="Rectangle 1">
            <a:extLst>
              <a:ext uri="{FF2B5EF4-FFF2-40B4-BE49-F238E27FC236}">
                <a16:creationId xmlns:a16="http://schemas.microsoft.com/office/drawing/2014/main" id="{236AAA48-59BD-4A6E-B363-64C84F5FC5DF}"/>
              </a:ext>
            </a:extLst>
          </p:cNvPr>
          <p:cNvSpPr>
            <a:spLocks noGrp="1"/>
          </p:cNvSpPr>
          <p:nvPr/>
        </p:nvSpPr>
        <p:spPr>
          <a:xfrm>
            <a:off x="11144250" y="6324600"/>
            <a:ext cx="476250" cy="266700"/>
          </a:xfrm>
          <a:prstGeom prst="rect">
            <a:avLst/>
          </a:prstGeom>
          <a:noFill/>
          <a:ln w="0">
            <a:noFill/>
          </a:ln>
        </p:spPr>
        <p:txBody>
          <a:bodyPr>
            <a:noAutofit/>
          </a:bodyPr>
          <a:lstStyle/>
          <a:p>
            <a:pPr>
              <a:defRPr sz="1275" b="0">
                <a:solidFill>
                  <a:srgbClr val="FFFFFF"/>
                </a:solidFill>
                <a:latin typeface="Arial"/>
                <a:ea typeface="Arial"/>
                <a:cs typeface="Arial"/>
              </a:defRPr>
            </a:pPr>
            <a:r>
              <a:rPr sz="1275" b="0">
                <a:solidFill>
                  <a:srgbClr val="FFFFFF"/>
                </a:solidFill>
                <a:latin typeface="Arial"/>
                <a:ea typeface="Arial"/>
                <a:cs typeface="Arial"/>
              </a:rPr>
              <a:t>12</a:t>
            </a:r>
          </a:p>
        </p:txBody>
      </p:sp>
      <p:sp>
        <p:nvSpPr>
          <p:cNvPr id="3" name="Rectangle 2">
            <a:extLst>
              <a:ext uri="{FF2B5EF4-FFF2-40B4-BE49-F238E27FC236}">
                <a16:creationId xmlns:a16="http://schemas.microsoft.com/office/drawing/2014/main" id="{87E83FC3-0841-42B7-B7F9-D9C155018044}"/>
              </a:ext>
            </a:extLst>
          </p:cNvPr>
          <p:cNvSpPr>
            <a:spLocks noGrp="1"/>
          </p:cNvSpPr>
          <p:nvPr/>
        </p:nvSpPr>
        <p:spPr>
          <a:xfrm>
            <a:off x="647700" y="1638300"/>
            <a:ext cx="666750" cy="523875"/>
          </a:xfrm>
          <a:prstGeom prst="rect">
            <a:avLst/>
          </a:prstGeom>
          <a:noFill/>
          <a:ln w="0">
            <a:noFill/>
          </a:ln>
        </p:spPr>
        <p:txBody>
          <a:bodyPr>
            <a:noAutofit/>
          </a:bodyPr>
          <a:lstStyle/>
          <a:p>
            <a:pPr>
              <a:defRPr sz="2550" b="1">
                <a:solidFill>
                  <a:srgbClr val="66D6CB"/>
                </a:solidFill>
                <a:latin typeface="Arial"/>
                <a:ea typeface="Arial"/>
                <a:cs typeface="Arial"/>
              </a:defRPr>
            </a:pPr>
            <a:r>
              <a:rPr sz="2550" b="1">
                <a:solidFill>
                  <a:srgbClr val="66D6CB"/>
                </a:solidFill>
                <a:latin typeface="Arial"/>
                <a:ea typeface="Arial"/>
                <a:cs typeface="Arial"/>
              </a:rPr>
              <a:t>01</a:t>
            </a:r>
          </a:p>
        </p:txBody>
      </p:sp>
      <p:sp>
        <p:nvSpPr>
          <p:cNvPr id="4" name="Rectangle 3">
            <a:extLst>
              <a:ext uri="{FF2B5EF4-FFF2-40B4-BE49-F238E27FC236}">
                <a16:creationId xmlns:a16="http://schemas.microsoft.com/office/drawing/2014/main" id="{8D5B7C8F-8AA4-4120-8399-24E529866F4D}"/>
              </a:ext>
            </a:extLst>
          </p:cNvPr>
          <p:cNvSpPr>
            <a:spLocks noGrp="1"/>
          </p:cNvSpPr>
          <p:nvPr/>
        </p:nvSpPr>
        <p:spPr>
          <a:xfrm>
            <a:off x="1476375" y="1638300"/>
            <a:ext cx="9334500" cy="438150"/>
          </a:xfrm>
          <a:prstGeom prst="rect">
            <a:avLst/>
          </a:prstGeom>
          <a:noFill/>
          <a:ln w="0">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Hoàn thiện và kiểm thử prototype</a:t>
            </a:r>
          </a:p>
        </p:txBody>
      </p:sp>
      <p:sp>
        <p:nvSpPr>
          <p:cNvPr id="5" name="Rectangle 4">
            <a:extLst>
              <a:ext uri="{FF2B5EF4-FFF2-40B4-BE49-F238E27FC236}">
                <a16:creationId xmlns:a16="http://schemas.microsoft.com/office/drawing/2014/main" id="{9F9C391C-A543-4D5F-AFE8-ADE0E781189D}"/>
              </a:ext>
            </a:extLst>
          </p:cNvPr>
          <p:cNvSpPr>
            <a:spLocks noGrp="1"/>
          </p:cNvSpPr>
          <p:nvPr/>
        </p:nvSpPr>
        <p:spPr>
          <a:xfrm>
            <a:off x="1476375" y="2105025"/>
            <a:ext cx="9334500" cy="723900"/>
          </a:xfrm>
          <a:prstGeom prst="rect">
            <a:avLst/>
          </a:prstGeom>
          <a:noFill/>
          <a:ln w="0">
            <a:noFill/>
          </a:ln>
        </p:spPr>
        <p:txBody>
          <a:bodyPr>
            <a:noAutofit/>
          </a:bodyPr>
          <a:lstStyle/>
          <a:p>
            <a:pPr>
              <a:defRPr sz="1875" b="0">
                <a:solidFill>
                  <a:srgbClr val="B4C8D5"/>
                </a:solidFill>
                <a:latin typeface="Arial"/>
                <a:ea typeface="Arial"/>
                <a:cs typeface="Arial"/>
              </a:defRPr>
            </a:pPr>
            <a:r>
              <a:rPr sz="1875" b="0">
                <a:solidFill>
                  <a:srgbClr val="B4C8D5"/>
                </a:solidFill>
                <a:latin typeface="Arial"/>
                <a:ea typeface="Arial"/>
                <a:cs typeface="Arial"/>
              </a:rPr>
              <a:t>Kiểm tra giao dịch lỗi, phân quyền và tính nhất quán của lịch sử.</a:t>
            </a:r>
          </a:p>
        </p:txBody>
      </p:sp>
      <p:sp>
        <p:nvSpPr>
          <p:cNvPr id="6" name="Rectangle 5">
            <a:extLst>
              <a:ext uri="{FF2B5EF4-FFF2-40B4-BE49-F238E27FC236}">
                <a16:creationId xmlns:a16="http://schemas.microsoft.com/office/drawing/2014/main" id="{96C7902B-FC50-4B45-96DB-0E4FFA6C66CF}"/>
              </a:ext>
            </a:extLst>
          </p:cNvPr>
          <p:cNvSpPr>
            <a:spLocks noGrp="1"/>
          </p:cNvSpPr>
          <p:nvPr/>
        </p:nvSpPr>
        <p:spPr>
          <a:xfrm>
            <a:off x="647700" y="3038475"/>
            <a:ext cx="666750" cy="523875"/>
          </a:xfrm>
          <a:prstGeom prst="rect">
            <a:avLst/>
          </a:prstGeom>
          <a:noFill/>
          <a:ln w="0">
            <a:noFill/>
          </a:ln>
        </p:spPr>
        <p:txBody>
          <a:bodyPr>
            <a:noAutofit/>
          </a:bodyPr>
          <a:lstStyle/>
          <a:p>
            <a:pPr>
              <a:defRPr sz="2550" b="1">
                <a:solidFill>
                  <a:srgbClr val="66D6CB"/>
                </a:solidFill>
                <a:latin typeface="Arial"/>
                <a:ea typeface="Arial"/>
                <a:cs typeface="Arial"/>
              </a:defRPr>
            </a:pPr>
            <a:r>
              <a:rPr sz="2550" b="1">
                <a:solidFill>
                  <a:srgbClr val="66D6CB"/>
                </a:solidFill>
                <a:latin typeface="Arial"/>
                <a:ea typeface="Arial"/>
                <a:cs typeface="Arial"/>
              </a:rPr>
              <a:t>02</a:t>
            </a:r>
          </a:p>
        </p:txBody>
      </p:sp>
      <p:sp>
        <p:nvSpPr>
          <p:cNvPr id="7" name="Rectangle 6">
            <a:extLst>
              <a:ext uri="{FF2B5EF4-FFF2-40B4-BE49-F238E27FC236}">
                <a16:creationId xmlns:a16="http://schemas.microsoft.com/office/drawing/2014/main" id="{16D9CE22-E99A-46F5-A272-ECA4C378BD3A}"/>
              </a:ext>
            </a:extLst>
          </p:cNvPr>
          <p:cNvSpPr>
            <a:spLocks noGrp="1"/>
          </p:cNvSpPr>
          <p:nvPr/>
        </p:nvSpPr>
        <p:spPr>
          <a:xfrm>
            <a:off x="1476375" y="3038475"/>
            <a:ext cx="9334500" cy="438150"/>
          </a:xfrm>
          <a:prstGeom prst="rect">
            <a:avLst/>
          </a:prstGeom>
          <a:noFill/>
          <a:ln w="0">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Phát triển ứng dụng sử dụng được</a:t>
            </a:r>
          </a:p>
        </p:txBody>
      </p:sp>
      <p:sp>
        <p:nvSpPr>
          <p:cNvPr id="8" name="Rectangle 7">
            <a:extLst>
              <a:ext uri="{FF2B5EF4-FFF2-40B4-BE49-F238E27FC236}">
                <a16:creationId xmlns:a16="http://schemas.microsoft.com/office/drawing/2014/main" id="{990B7F74-4CDF-4D4C-A74D-B2CD1293E6AA}"/>
              </a:ext>
            </a:extLst>
          </p:cNvPr>
          <p:cNvSpPr>
            <a:spLocks noGrp="1"/>
          </p:cNvSpPr>
          <p:nvPr/>
        </p:nvSpPr>
        <p:spPr>
          <a:xfrm>
            <a:off x="1476375" y="3505200"/>
            <a:ext cx="9334500" cy="723900"/>
          </a:xfrm>
          <a:prstGeom prst="rect">
            <a:avLst/>
          </a:prstGeom>
          <a:noFill/>
          <a:ln w="0">
            <a:noFill/>
          </a:ln>
        </p:spPr>
        <p:txBody>
          <a:bodyPr>
            <a:noAutofit/>
          </a:bodyPr>
          <a:lstStyle/>
          <a:p>
            <a:pPr>
              <a:defRPr sz="1875" b="0">
                <a:solidFill>
                  <a:srgbClr val="B4C8D5"/>
                </a:solidFill>
                <a:latin typeface="Arial"/>
                <a:ea typeface="Arial"/>
                <a:cs typeface="Arial"/>
              </a:defRPr>
            </a:pPr>
            <a:r>
              <a:rPr sz="1875" b="0">
                <a:solidFill>
                  <a:srgbClr val="B4C8D5"/>
                </a:solidFill>
                <a:latin typeface="Arial"/>
                <a:ea typeface="Arial"/>
                <a:cs typeface="Arial"/>
              </a:rPr>
              <a:t>Bổ sung Web/Mobile và quản lý hồ sơ ngoài Blockchain.</a:t>
            </a:r>
          </a:p>
        </p:txBody>
      </p:sp>
      <p:sp>
        <p:nvSpPr>
          <p:cNvPr id="9" name="Rectangle 8">
            <a:extLst>
              <a:ext uri="{FF2B5EF4-FFF2-40B4-BE49-F238E27FC236}">
                <a16:creationId xmlns:a16="http://schemas.microsoft.com/office/drawing/2014/main" id="{C809F798-6FF6-4A66-A514-6B8984E99E2D}"/>
              </a:ext>
            </a:extLst>
          </p:cNvPr>
          <p:cNvSpPr>
            <a:spLocks noGrp="1"/>
          </p:cNvSpPr>
          <p:nvPr/>
        </p:nvSpPr>
        <p:spPr>
          <a:xfrm>
            <a:off x="647700" y="4438650"/>
            <a:ext cx="666750" cy="523875"/>
          </a:xfrm>
          <a:prstGeom prst="rect">
            <a:avLst/>
          </a:prstGeom>
          <a:noFill/>
          <a:ln w="0">
            <a:noFill/>
          </a:ln>
        </p:spPr>
        <p:txBody>
          <a:bodyPr>
            <a:noAutofit/>
          </a:bodyPr>
          <a:lstStyle/>
          <a:p>
            <a:pPr>
              <a:defRPr sz="2550" b="1">
                <a:solidFill>
                  <a:srgbClr val="66D6CB"/>
                </a:solidFill>
                <a:latin typeface="Arial"/>
                <a:ea typeface="Arial"/>
                <a:cs typeface="Arial"/>
              </a:defRPr>
            </a:pPr>
            <a:r>
              <a:rPr sz="2550" b="1">
                <a:solidFill>
                  <a:srgbClr val="66D6CB"/>
                </a:solidFill>
                <a:latin typeface="Arial"/>
                <a:ea typeface="Arial"/>
                <a:cs typeface="Arial"/>
              </a:rPr>
              <a:t>03</a:t>
            </a:r>
          </a:p>
        </p:txBody>
      </p:sp>
      <p:sp>
        <p:nvSpPr>
          <p:cNvPr id="10" name="Rectangle 9">
            <a:extLst>
              <a:ext uri="{FF2B5EF4-FFF2-40B4-BE49-F238E27FC236}">
                <a16:creationId xmlns:a16="http://schemas.microsoft.com/office/drawing/2014/main" id="{3EEC800D-3A79-4D69-8647-BDAA86FE437C}"/>
              </a:ext>
            </a:extLst>
          </p:cNvPr>
          <p:cNvSpPr>
            <a:spLocks noGrp="1"/>
          </p:cNvSpPr>
          <p:nvPr/>
        </p:nvSpPr>
        <p:spPr>
          <a:xfrm>
            <a:off x="1476375" y="4438650"/>
            <a:ext cx="9334500" cy="438150"/>
          </a:xfrm>
          <a:prstGeom prst="rect">
            <a:avLst/>
          </a:prstGeom>
          <a:noFill/>
          <a:ln w="0">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Nghiên cứu tích hợp thực tế</a:t>
            </a:r>
          </a:p>
        </p:txBody>
      </p:sp>
      <p:sp>
        <p:nvSpPr>
          <p:cNvPr id="11" name="Rectangle 10">
            <a:extLst>
              <a:ext uri="{FF2B5EF4-FFF2-40B4-BE49-F238E27FC236}">
                <a16:creationId xmlns:a16="http://schemas.microsoft.com/office/drawing/2014/main" id="{A8E5C1CA-E3AC-4732-B0E3-4D5C0325075D}"/>
              </a:ext>
            </a:extLst>
          </p:cNvPr>
          <p:cNvSpPr>
            <a:spLocks noGrp="1"/>
          </p:cNvSpPr>
          <p:nvPr/>
        </p:nvSpPr>
        <p:spPr>
          <a:xfrm>
            <a:off x="1476375" y="4905375"/>
            <a:ext cx="9334500" cy="723900"/>
          </a:xfrm>
          <a:prstGeom prst="rect">
            <a:avLst/>
          </a:prstGeom>
          <a:noFill/>
          <a:ln w="0">
            <a:noFill/>
          </a:ln>
        </p:spPr>
        <p:txBody>
          <a:bodyPr>
            <a:noAutofit/>
          </a:bodyPr>
          <a:lstStyle/>
          <a:p>
            <a:pPr>
              <a:defRPr sz="1875" b="0">
                <a:solidFill>
                  <a:srgbClr val="B4C8D5"/>
                </a:solidFill>
                <a:latin typeface="Arial"/>
                <a:ea typeface="Arial"/>
                <a:cs typeface="Arial"/>
              </a:defRPr>
            </a:pPr>
            <a:r>
              <a:rPr sz="1875" b="0">
                <a:solidFill>
                  <a:srgbClr val="B4C8D5"/>
                </a:solidFill>
                <a:latin typeface="Arial"/>
                <a:ea typeface="Arial"/>
                <a:cs typeface="Arial"/>
              </a:rPr>
              <a:t>Định danh, chữ ký số, ngân hàng và mạng Blockchain có cấp quyền.</a:t>
            </a:r>
          </a:p>
        </p:txBody>
      </p:sp>
    </p:spTree>
    <p:extLst>
      <p:ext uri="{BB962C8B-B14F-4D97-AF65-F5344CB8AC3E}">
        <p14:creationId xmlns:p14="http://schemas.microsoft.com/office/powerpoint/2010/main" val="488429438"/>
      </p:ext>
    </p:extLst>
  </p:cSld>
  <p:clrMapOvr>
    <a:masterClrMapping/>
  </p:clrMapOvr>
  <p:transition spd="slow">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1422</Words>
  <Application>Microsoft Office PowerPoint</Application>
  <DocSecurity>0</DocSecurity>
  <PresentationFormat>Widescreen</PresentationFormat>
  <Paragraphs>153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Lê Đạt</cp:lastModifiedBy>
  <cp:revision>1</cp:revision>
  <dcterms:created xsi:type="dcterms:W3CDTF">2026-09-26T07:34:50Z</dcterms:created>
  <dcterms:modified xsi:type="dcterms:W3CDTF">2026-09-26T07:42:42Z</dcterms:modified>
</cp:coreProperties>
</file>